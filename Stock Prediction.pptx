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snapToGrid="0">
      <p:cViewPr varScale="1">
        <p:scale>
          <a:sx n="111" d="100"/>
          <a:sy n="111" d="100"/>
        </p:scale>
        <p:origin x="65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3" name="Google Shape;9;p2"/>
          <p:cNvSpPr/>
          <p:nvPr/>
        </p:nvSpPr>
        <p:spPr>
          <a:xfrm>
            <a:off x="4143960" y="228600"/>
            <a:ext cx="4771080" cy="454428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 name="PlaceHolder 1"/>
          <p:cNvSpPr>
            <a:spLocks noGrp="1"/>
          </p:cNvSpPr>
          <p:nvPr>
            <p:ph type="title"/>
          </p:nvPr>
        </p:nvSpPr>
        <p:spPr>
          <a:xfrm>
            <a:off x="115200" y="215640"/>
            <a:ext cx="3767400" cy="2490120"/>
          </a:xfrm>
          <a:prstGeom prst="rect">
            <a:avLst/>
          </a:prstGeom>
          <a:noFill/>
          <a:ln w="0">
            <a:noFill/>
          </a:ln>
        </p:spPr>
        <p:txBody>
          <a:bodyPr lIns="91440" tIns="91440" rIns="91440" bIns="91440" anchor="t">
            <a:noAutofit/>
          </a:bodyPr>
          <a:lstStyle/>
          <a:p>
            <a:pPr indent="0">
              <a:buNone/>
            </a:pPr>
            <a:r>
              <a:rPr lang="fr-FR" sz="4500" b="0" u="none" strike="noStrike">
                <a:solidFill>
                  <a:schemeClr val="dk1"/>
                </a:solidFill>
                <a:effectLst/>
                <a:uFillTx/>
                <a:latin typeface="Arial"/>
              </a:rPr>
              <a:t>Click to edit the title text format</a:t>
            </a:r>
          </a:p>
        </p:txBody>
      </p:sp>
      <p:sp>
        <p:nvSpPr>
          <p:cNvPr id="2" name="PlaceHolder 2"/>
          <p:cNvSpPr>
            <a:spLocks noGrp="1"/>
          </p:cNvSpPr>
          <p:nvPr>
            <p:ph type="body"/>
          </p:nvPr>
        </p:nvSpPr>
        <p:spPr>
          <a:xfrm>
            <a:off x="4448520" y="419760"/>
            <a:ext cx="4162320" cy="4162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5405040" y="166320"/>
            <a:ext cx="3510000" cy="1292040"/>
          </a:xfrm>
          <a:prstGeom prst="rect">
            <a:avLst/>
          </a:prstGeom>
          <a:noFill/>
          <a:ln w="0">
            <a:noFill/>
          </a:ln>
        </p:spPr>
        <p:txBody>
          <a:bodyPr lIns="91440" tIns="91440" rIns="91440" bIns="91440" anchor="t">
            <a:noAutofit/>
          </a:bodyPr>
          <a:lstStyle/>
          <a:p>
            <a:pPr indent="0">
              <a:lnSpc>
                <a:spcPct val="100000"/>
              </a:lnSpc>
              <a:buNone/>
            </a:pPr>
            <a:r>
              <a:rPr lang="fr-FR" sz="6000" b="0" i="1" u="none" strike="noStrike">
                <a:solidFill>
                  <a:schemeClr val="accent1"/>
                </a:solidFill>
                <a:effectLst/>
                <a:uFillTx/>
                <a:latin typeface="Roboto Condensed"/>
                <a:ea typeface="Roboto Condensed"/>
              </a:rPr>
              <a:t>xx%</a:t>
            </a:r>
            <a:endParaRPr lang="fr-FR" sz="6000" b="0" u="none" strike="noStrike">
              <a:solidFill>
                <a:schemeClr val="dk1"/>
              </a:solidFill>
              <a:effectLst/>
              <a:uFillTx/>
              <a:latin typeface="Arial"/>
            </a:endParaRPr>
          </a:p>
        </p:txBody>
      </p:sp>
      <p:sp>
        <p:nvSpPr>
          <p:cNvPr id="4" name="PlaceHolder 2"/>
          <p:cNvSpPr>
            <a:spLocks noGrp="1"/>
          </p:cNvSpPr>
          <p:nvPr>
            <p:ph type="body"/>
          </p:nvPr>
        </p:nvSpPr>
        <p:spPr>
          <a:xfrm>
            <a:off x="533160" y="419760"/>
            <a:ext cx="4162320" cy="4162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228600" y="416520"/>
            <a:ext cx="2724120" cy="111168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6" name="PlaceHolder 2"/>
          <p:cNvSpPr>
            <a:spLocks noGrp="1"/>
          </p:cNvSpPr>
          <p:nvPr>
            <p:ph type="title"/>
          </p:nvPr>
        </p:nvSpPr>
        <p:spPr>
          <a:xfrm>
            <a:off x="4970160" y="2084760"/>
            <a:ext cx="639720" cy="417600"/>
          </a:xfrm>
          <a:prstGeom prst="rect">
            <a:avLst/>
          </a:prstGeom>
          <a:noFill/>
          <a:ln w="0">
            <a:noFill/>
          </a:ln>
        </p:spPr>
        <p:txBody>
          <a:bodyPr lIns="91440" tIns="91440" rIns="91440" bIns="91440" anchor="ctr">
            <a:noAutofit/>
          </a:bodyPr>
          <a:lstStyle/>
          <a:p>
            <a:pPr indent="0" algn="ctr">
              <a:lnSpc>
                <a:spcPct val="100000"/>
              </a:lnSpc>
              <a:buNone/>
            </a:pPr>
            <a:r>
              <a:rPr lang="fr-FR" sz="2500" b="0" i="1" u="none" strike="noStrike">
                <a:solidFill>
                  <a:schemeClr val="accent1"/>
                </a:solidFill>
                <a:effectLst/>
                <a:uFillTx/>
                <a:latin typeface="Roboto Condensed"/>
                <a:ea typeface="Roboto Condensed"/>
              </a:rPr>
              <a:t>xx%</a:t>
            </a:r>
            <a:endParaRPr lang="fr-FR" sz="2500" b="0" u="none" strike="noStrike">
              <a:solidFill>
                <a:schemeClr val="dk1"/>
              </a:solidFill>
              <a:effectLst/>
              <a:uFillTx/>
              <a:latin typeface="Arial"/>
            </a:endParaRPr>
          </a:p>
        </p:txBody>
      </p:sp>
      <p:sp>
        <p:nvSpPr>
          <p:cNvPr id="7" name="PlaceHolder 3"/>
          <p:cNvSpPr>
            <a:spLocks noGrp="1"/>
          </p:cNvSpPr>
          <p:nvPr>
            <p:ph type="title"/>
          </p:nvPr>
        </p:nvSpPr>
        <p:spPr>
          <a:xfrm>
            <a:off x="4970160" y="972720"/>
            <a:ext cx="639720" cy="417240"/>
          </a:xfrm>
          <a:prstGeom prst="rect">
            <a:avLst/>
          </a:prstGeom>
          <a:noFill/>
          <a:ln w="0">
            <a:noFill/>
          </a:ln>
        </p:spPr>
        <p:txBody>
          <a:bodyPr lIns="91440" tIns="91440" rIns="91440" bIns="91440" anchor="ctr">
            <a:noAutofit/>
          </a:bodyPr>
          <a:lstStyle/>
          <a:p>
            <a:pPr indent="0" algn="ctr">
              <a:lnSpc>
                <a:spcPct val="100000"/>
              </a:lnSpc>
              <a:buNone/>
            </a:pPr>
            <a:r>
              <a:rPr lang="fr-FR" sz="2500" b="0" i="1" u="none" strike="noStrike">
                <a:solidFill>
                  <a:schemeClr val="accent1"/>
                </a:solidFill>
                <a:effectLst/>
                <a:uFillTx/>
                <a:latin typeface="Roboto Condensed"/>
                <a:ea typeface="Roboto Condensed"/>
              </a:rPr>
              <a:t>xx%</a:t>
            </a:r>
            <a:endParaRPr lang="fr-FR" sz="2500" b="0" u="none" strike="noStrike">
              <a:solidFill>
                <a:schemeClr val="dk1"/>
              </a:solidFill>
              <a:effectLst/>
              <a:uFillTx/>
              <a:latin typeface="Arial"/>
            </a:endParaRPr>
          </a:p>
        </p:txBody>
      </p:sp>
      <p:sp>
        <p:nvSpPr>
          <p:cNvPr id="8" name="PlaceHolder 4"/>
          <p:cNvSpPr>
            <a:spLocks noGrp="1"/>
          </p:cNvSpPr>
          <p:nvPr>
            <p:ph type="title"/>
          </p:nvPr>
        </p:nvSpPr>
        <p:spPr>
          <a:xfrm>
            <a:off x="4970880" y="416520"/>
            <a:ext cx="638640" cy="417240"/>
          </a:xfrm>
          <a:prstGeom prst="rect">
            <a:avLst/>
          </a:prstGeom>
          <a:noFill/>
          <a:ln w="0">
            <a:noFill/>
          </a:ln>
        </p:spPr>
        <p:txBody>
          <a:bodyPr lIns="91440" tIns="91440" rIns="91440" bIns="91440" anchor="ctr">
            <a:noAutofit/>
          </a:bodyPr>
          <a:lstStyle/>
          <a:p>
            <a:pPr indent="0" algn="ctr">
              <a:lnSpc>
                <a:spcPct val="100000"/>
              </a:lnSpc>
              <a:buNone/>
            </a:pPr>
            <a:r>
              <a:rPr lang="fr-FR" sz="2500" b="0" i="1" u="none" strike="noStrike">
                <a:solidFill>
                  <a:schemeClr val="accent1"/>
                </a:solidFill>
                <a:effectLst/>
                <a:uFillTx/>
                <a:latin typeface="Roboto Condensed"/>
                <a:ea typeface="Roboto Condensed"/>
              </a:rPr>
              <a:t>xx%</a:t>
            </a:r>
            <a:endParaRPr lang="fr-FR" sz="2500" b="0" u="none" strike="noStrike">
              <a:solidFill>
                <a:schemeClr val="dk1"/>
              </a:solidFill>
              <a:effectLst/>
              <a:uFillTx/>
              <a:latin typeface="Arial"/>
            </a:endParaRPr>
          </a:p>
        </p:txBody>
      </p:sp>
      <p:sp>
        <p:nvSpPr>
          <p:cNvPr id="9" name="PlaceHolder 5"/>
          <p:cNvSpPr>
            <a:spLocks noGrp="1"/>
          </p:cNvSpPr>
          <p:nvPr>
            <p:ph type="title"/>
          </p:nvPr>
        </p:nvSpPr>
        <p:spPr>
          <a:xfrm>
            <a:off x="4970160" y="1528560"/>
            <a:ext cx="639720" cy="417600"/>
          </a:xfrm>
          <a:prstGeom prst="rect">
            <a:avLst/>
          </a:prstGeom>
          <a:noFill/>
          <a:ln w="0">
            <a:noFill/>
          </a:ln>
        </p:spPr>
        <p:txBody>
          <a:bodyPr lIns="91440" tIns="91440" rIns="91440" bIns="91440" anchor="ctr">
            <a:noAutofit/>
          </a:bodyPr>
          <a:lstStyle/>
          <a:p>
            <a:pPr indent="0" algn="ctr">
              <a:lnSpc>
                <a:spcPct val="100000"/>
              </a:lnSpc>
              <a:buNone/>
            </a:pPr>
            <a:r>
              <a:rPr lang="fr-FR" sz="2500" b="0" i="1" u="none" strike="noStrike">
                <a:solidFill>
                  <a:schemeClr val="accent1"/>
                </a:solidFill>
                <a:effectLst/>
                <a:uFillTx/>
                <a:latin typeface="Roboto Condensed"/>
                <a:ea typeface="Roboto Condensed"/>
              </a:rPr>
              <a:t>xx%</a:t>
            </a:r>
            <a:endParaRPr lang="fr-FR" sz="2500" b="0" u="none" strike="noStrike">
              <a:solidFill>
                <a:schemeClr val="dk1"/>
              </a:solidFill>
              <a:effectLst/>
              <a:uFillTx/>
              <a:latin typeface="Arial"/>
            </a:endParaRPr>
          </a:p>
        </p:txBody>
      </p:sp>
      <p:sp>
        <p:nvSpPr>
          <p:cNvPr id="10" name="PlaceHolder 6"/>
          <p:cNvSpPr>
            <a:spLocks noGrp="1"/>
          </p:cNvSpPr>
          <p:nvPr>
            <p:ph type="title"/>
          </p:nvPr>
        </p:nvSpPr>
        <p:spPr>
          <a:xfrm>
            <a:off x="4970160" y="3197160"/>
            <a:ext cx="639720" cy="417240"/>
          </a:xfrm>
          <a:prstGeom prst="rect">
            <a:avLst/>
          </a:prstGeom>
          <a:noFill/>
          <a:ln w="0">
            <a:noFill/>
          </a:ln>
        </p:spPr>
        <p:txBody>
          <a:bodyPr lIns="91440" tIns="91440" rIns="91440" bIns="91440" anchor="ctr">
            <a:noAutofit/>
          </a:bodyPr>
          <a:lstStyle/>
          <a:p>
            <a:pPr indent="0" algn="ctr">
              <a:lnSpc>
                <a:spcPct val="100000"/>
              </a:lnSpc>
              <a:buNone/>
            </a:pPr>
            <a:r>
              <a:rPr lang="fr-FR" sz="2500" b="0" i="1" u="none" strike="noStrike">
                <a:solidFill>
                  <a:schemeClr val="accent1"/>
                </a:solidFill>
                <a:effectLst/>
                <a:uFillTx/>
                <a:latin typeface="Roboto Condensed"/>
                <a:ea typeface="Roboto Condensed"/>
              </a:rPr>
              <a:t>xx%</a:t>
            </a:r>
            <a:endParaRPr lang="fr-FR" sz="2500" b="0" u="none" strike="noStrike">
              <a:solidFill>
                <a:schemeClr val="dk1"/>
              </a:solidFill>
              <a:effectLst/>
              <a:uFillTx/>
              <a:latin typeface="Arial"/>
            </a:endParaRPr>
          </a:p>
        </p:txBody>
      </p:sp>
      <p:sp>
        <p:nvSpPr>
          <p:cNvPr id="11" name="PlaceHolder 7"/>
          <p:cNvSpPr>
            <a:spLocks noGrp="1"/>
          </p:cNvSpPr>
          <p:nvPr>
            <p:ph type="title"/>
          </p:nvPr>
        </p:nvSpPr>
        <p:spPr>
          <a:xfrm>
            <a:off x="4970160" y="3753000"/>
            <a:ext cx="639720" cy="417600"/>
          </a:xfrm>
          <a:prstGeom prst="rect">
            <a:avLst/>
          </a:prstGeom>
          <a:noFill/>
          <a:ln w="0">
            <a:noFill/>
          </a:ln>
        </p:spPr>
        <p:txBody>
          <a:bodyPr lIns="91440" tIns="91440" rIns="91440" bIns="91440" anchor="ctr">
            <a:noAutofit/>
          </a:bodyPr>
          <a:lstStyle/>
          <a:p>
            <a:pPr indent="0" algn="ctr">
              <a:lnSpc>
                <a:spcPct val="100000"/>
              </a:lnSpc>
              <a:buNone/>
            </a:pPr>
            <a:r>
              <a:rPr lang="fr-FR" sz="2500" b="0" i="1" u="none" strike="noStrike">
                <a:solidFill>
                  <a:schemeClr val="accent1"/>
                </a:solidFill>
                <a:effectLst/>
                <a:uFillTx/>
                <a:latin typeface="Roboto Condensed"/>
                <a:ea typeface="Roboto Condensed"/>
              </a:rPr>
              <a:t>xx%</a:t>
            </a:r>
            <a:endParaRPr lang="fr-FR" sz="2500" b="0" u="none" strike="noStrike">
              <a:solidFill>
                <a:schemeClr val="dk1"/>
              </a:solidFill>
              <a:effectLst/>
              <a:uFillTx/>
              <a:latin typeface="Arial"/>
            </a:endParaRPr>
          </a:p>
        </p:txBody>
      </p:sp>
      <p:sp>
        <p:nvSpPr>
          <p:cNvPr id="12" name="PlaceHolder 8"/>
          <p:cNvSpPr>
            <a:spLocks noGrp="1"/>
          </p:cNvSpPr>
          <p:nvPr>
            <p:ph type="title"/>
          </p:nvPr>
        </p:nvSpPr>
        <p:spPr>
          <a:xfrm>
            <a:off x="4970160" y="4309200"/>
            <a:ext cx="639720" cy="417600"/>
          </a:xfrm>
          <a:prstGeom prst="rect">
            <a:avLst/>
          </a:prstGeom>
          <a:noFill/>
          <a:ln w="0">
            <a:noFill/>
          </a:ln>
        </p:spPr>
        <p:txBody>
          <a:bodyPr lIns="91440" tIns="91440" rIns="91440" bIns="91440" anchor="ctr">
            <a:noAutofit/>
          </a:bodyPr>
          <a:lstStyle/>
          <a:p>
            <a:pPr indent="0" algn="ctr">
              <a:lnSpc>
                <a:spcPct val="100000"/>
              </a:lnSpc>
              <a:buNone/>
            </a:pPr>
            <a:r>
              <a:rPr lang="fr-FR" sz="2500" b="0" i="1" u="none" strike="noStrike">
                <a:solidFill>
                  <a:schemeClr val="accent1"/>
                </a:solidFill>
                <a:effectLst/>
                <a:uFillTx/>
                <a:latin typeface="Roboto Condensed"/>
                <a:ea typeface="Roboto Condensed"/>
              </a:rPr>
              <a:t>xx%</a:t>
            </a:r>
            <a:endParaRPr lang="fr-FR" sz="2500" b="0" u="none" strike="noStrike">
              <a:solidFill>
                <a:schemeClr val="dk1"/>
              </a:solidFill>
              <a:effectLst/>
              <a:uFillTx/>
              <a:latin typeface="Arial"/>
            </a:endParaRPr>
          </a:p>
        </p:txBody>
      </p:sp>
      <p:sp>
        <p:nvSpPr>
          <p:cNvPr id="13" name="PlaceHolder 9"/>
          <p:cNvSpPr>
            <a:spLocks noGrp="1"/>
          </p:cNvSpPr>
          <p:nvPr>
            <p:ph type="title"/>
          </p:nvPr>
        </p:nvSpPr>
        <p:spPr>
          <a:xfrm>
            <a:off x="4970160" y="2640960"/>
            <a:ext cx="639720" cy="417600"/>
          </a:xfrm>
          <a:prstGeom prst="rect">
            <a:avLst/>
          </a:prstGeom>
          <a:noFill/>
          <a:ln w="0">
            <a:noFill/>
          </a:ln>
        </p:spPr>
        <p:txBody>
          <a:bodyPr lIns="91440" tIns="91440" rIns="91440" bIns="91440" anchor="ctr">
            <a:noAutofit/>
          </a:bodyPr>
          <a:lstStyle/>
          <a:p>
            <a:pPr indent="0" algn="ctr">
              <a:lnSpc>
                <a:spcPct val="100000"/>
              </a:lnSpc>
              <a:buNone/>
            </a:pPr>
            <a:r>
              <a:rPr lang="fr-FR" sz="2500" b="0" i="1" u="none" strike="noStrike">
                <a:solidFill>
                  <a:schemeClr val="accent1"/>
                </a:solidFill>
                <a:effectLst/>
                <a:uFillTx/>
                <a:latin typeface="Roboto Condensed"/>
                <a:ea typeface="Roboto Condensed"/>
              </a:rPr>
              <a:t>xx%</a:t>
            </a:r>
            <a:endParaRPr lang="fr-FR" sz="25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2"/>
        </a:solidFill>
        <a:effectLst/>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228600" y="4342320"/>
            <a:ext cx="621972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0_1">
    <p:bg>
      <p:bgPr>
        <a:solidFill>
          <a:schemeClr val="lt2"/>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228600" y="204480"/>
            <a:ext cx="5598720" cy="102132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17" name="PlaceHolder 2"/>
          <p:cNvSpPr>
            <a:spLocks noGrp="1"/>
          </p:cNvSpPr>
          <p:nvPr>
            <p:ph type="body"/>
          </p:nvPr>
        </p:nvSpPr>
        <p:spPr>
          <a:xfrm>
            <a:off x="6014880" y="-12960"/>
            <a:ext cx="3128760" cy="5155920"/>
          </a:xfrm>
          <a:prstGeom prst="rect">
            <a:avLst/>
          </a:prstGeom>
          <a:noFill/>
          <a:ln w="0">
            <a:noFill/>
          </a:ln>
        </p:spPr>
        <p:txBody>
          <a:bodyPr lIns="90000" tIns="45000" rIns="90000" bIns="45000" anchor="t">
            <a:normAutofit fontScale="7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6_1">
    <p:bg>
      <p:bgPr>
        <a:solidFill>
          <a:schemeClr val="lt1"/>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228600" y="960480"/>
            <a:ext cx="2136600" cy="104904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9" name="PlaceHolder 2"/>
          <p:cNvSpPr>
            <a:spLocks noGrp="1"/>
          </p:cNvSpPr>
          <p:nvPr>
            <p:ph type="body"/>
          </p:nvPr>
        </p:nvSpPr>
        <p:spPr>
          <a:xfrm>
            <a:off x="3119040" y="1144800"/>
            <a:ext cx="1825560" cy="178452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0" name="PlaceHolder 3"/>
          <p:cNvSpPr>
            <a:spLocks noGrp="1"/>
          </p:cNvSpPr>
          <p:nvPr>
            <p:ph type="body"/>
          </p:nvPr>
        </p:nvSpPr>
        <p:spPr>
          <a:xfrm>
            <a:off x="5104080" y="1144800"/>
            <a:ext cx="1825560" cy="178452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1" name="PlaceHolder 4"/>
          <p:cNvSpPr>
            <a:spLocks noGrp="1"/>
          </p:cNvSpPr>
          <p:nvPr>
            <p:ph type="body"/>
          </p:nvPr>
        </p:nvSpPr>
        <p:spPr>
          <a:xfrm>
            <a:off x="7089480" y="1144800"/>
            <a:ext cx="1825560" cy="178452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3" name="PlaceHolder 2"/>
          <p:cNvSpPr>
            <a:spLocks noGrp="1"/>
          </p:cNvSpPr>
          <p:nvPr>
            <p:ph type="title"/>
          </p:nvPr>
        </p:nvSpPr>
        <p:spPr>
          <a:xfrm>
            <a:off x="1700640" y="2433960"/>
            <a:ext cx="621000" cy="399600"/>
          </a:xfrm>
          <a:prstGeom prst="rect">
            <a:avLst/>
          </a:prstGeom>
          <a:noFill/>
          <a:ln w="0">
            <a:noFill/>
          </a:ln>
        </p:spPr>
        <p:txBody>
          <a:bodyPr lIns="91440" tIns="91440" rIns="91440" bIns="91440" anchor="ctr">
            <a:noAutofit/>
          </a:bodyPr>
          <a:lstStyle/>
          <a:p>
            <a:pPr indent="0" algn="ctr">
              <a:lnSpc>
                <a:spcPct val="100000"/>
              </a:lnSpc>
              <a:buNone/>
            </a:pPr>
            <a:r>
              <a:rPr lang="fr-FR" sz="2500" b="0" i="1" u="none" strike="noStrike">
                <a:solidFill>
                  <a:schemeClr val="accent1"/>
                </a:solidFill>
                <a:effectLst/>
                <a:uFillTx/>
                <a:latin typeface="Roboto Condensed"/>
                <a:ea typeface="Roboto Condensed"/>
              </a:rPr>
              <a:t>xx%</a:t>
            </a:r>
            <a:endParaRPr lang="fr-FR" sz="2500" b="0" u="none" strike="noStrike">
              <a:solidFill>
                <a:schemeClr val="dk1"/>
              </a:solidFill>
              <a:effectLst/>
              <a:uFillTx/>
              <a:latin typeface="Arial"/>
            </a:endParaRPr>
          </a:p>
        </p:txBody>
      </p:sp>
      <p:sp>
        <p:nvSpPr>
          <p:cNvPr id="24" name="PlaceHolder 3"/>
          <p:cNvSpPr>
            <a:spLocks noGrp="1"/>
          </p:cNvSpPr>
          <p:nvPr>
            <p:ph type="title"/>
          </p:nvPr>
        </p:nvSpPr>
        <p:spPr>
          <a:xfrm>
            <a:off x="4261320" y="2433960"/>
            <a:ext cx="621000" cy="399600"/>
          </a:xfrm>
          <a:prstGeom prst="rect">
            <a:avLst/>
          </a:prstGeom>
          <a:noFill/>
          <a:ln w="0">
            <a:noFill/>
          </a:ln>
        </p:spPr>
        <p:txBody>
          <a:bodyPr lIns="91440" tIns="91440" rIns="91440" bIns="91440" anchor="ctr">
            <a:noAutofit/>
          </a:bodyPr>
          <a:lstStyle/>
          <a:p>
            <a:pPr indent="0" algn="ctr">
              <a:lnSpc>
                <a:spcPct val="100000"/>
              </a:lnSpc>
              <a:buNone/>
            </a:pPr>
            <a:r>
              <a:rPr lang="fr-FR" sz="2500" b="0" i="1" u="none" strike="noStrike">
                <a:solidFill>
                  <a:schemeClr val="accent1"/>
                </a:solidFill>
                <a:effectLst/>
                <a:uFillTx/>
                <a:latin typeface="Roboto Condensed"/>
                <a:ea typeface="Roboto Condensed"/>
              </a:rPr>
              <a:t>xx%</a:t>
            </a:r>
            <a:endParaRPr lang="fr-FR" sz="2500" b="0" u="none" strike="noStrike">
              <a:solidFill>
                <a:schemeClr val="dk1"/>
              </a:solidFill>
              <a:effectLst/>
              <a:uFillTx/>
              <a:latin typeface="Arial"/>
            </a:endParaRPr>
          </a:p>
        </p:txBody>
      </p:sp>
      <p:sp>
        <p:nvSpPr>
          <p:cNvPr id="25" name="PlaceHolder 4"/>
          <p:cNvSpPr>
            <a:spLocks noGrp="1"/>
          </p:cNvSpPr>
          <p:nvPr>
            <p:ph type="title"/>
          </p:nvPr>
        </p:nvSpPr>
        <p:spPr>
          <a:xfrm>
            <a:off x="6822000" y="2433960"/>
            <a:ext cx="621000" cy="399600"/>
          </a:xfrm>
          <a:prstGeom prst="rect">
            <a:avLst/>
          </a:prstGeom>
          <a:noFill/>
          <a:ln w="0">
            <a:noFill/>
          </a:ln>
        </p:spPr>
        <p:txBody>
          <a:bodyPr lIns="91440" tIns="91440" rIns="91440" bIns="91440" anchor="ctr">
            <a:noAutofit/>
          </a:bodyPr>
          <a:lstStyle/>
          <a:p>
            <a:pPr indent="0" algn="ctr">
              <a:lnSpc>
                <a:spcPct val="100000"/>
              </a:lnSpc>
              <a:buNone/>
            </a:pPr>
            <a:r>
              <a:rPr lang="fr-FR" sz="2500" b="0" i="1" u="none" strike="noStrike">
                <a:solidFill>
                  <a:schemeClr val="accent1"/>
                </a:solidFill>
                <a:effectLst/>
                <a:uFillTx/>
                <a:latin typeface="Roboto Condensed"/>
                <a:ea typeface="Roboto Condensed"/>
              </a:rPr>
              <a:t>xx%</a:t>
            </a:r>
            <a:endParaRPr lang="fr-FR" sz="2500" b="0" u="none" strike="noStrike">
              <a:solidFill>
                <a:schemeClr val="dk1"/>
              </a:solidFill>
              <a:effectLst/>
              <a:uFillTx/>
              <a:latin typeface="Arial"/>
            </a:endParaRPr>
          </a:p>
        </p:txBody>
      </p:sp>
      <p:sp>
        <p:nvSpPr>
          <p:cNvPr id="26" name="PlaceHolder 5"/>
          <p:cNvSpPr>
            <a:spLocks noGrp="1"/>
          </p:cNvSpPr>
          <p:nvPr>
            <p:ph type="title"/>
          </p:nvPr>
        </p:nvSpPr>
        <p:spPr>
          <a:xfrm>
            <a:off x="1700640" y="3761280"/>
            <a:ext cx="621000" cy="399600"/>
          </a:xfrm>
          <a:prstGeom prst="rect">
            <a:avLst/>
          </a:prstGeom>
          <a:noFill/>
          <a:ln w="0">
            <a:noFill/>
          </a:ln>
        </p:spPr>
        <p:txBody>
          <a:bodyPr lIns="91440" tIns="91440" rIns="91440" bIns="91440" anchor="ctr">
            <a:noAutofit/>
          </a:bodyPr>
          <a:lstStyle/>
          <a:p>
            <a:pPr indent="0" algn="ctr">
              <a:lnSpc>
                <a:spcPct val="100000"/>
              </a:lnSpc>
              <a:buNone/>
            </a:pPr>
            <a:r>
              <a:rPr lang="fr-FR" sz="2500" b="0" i="1" u="none" strike="noStrike">
                <a:solidFill>
                  <a:schemeClr val="accent1"/>
                </a:solidFill>
                <a:effectLst/>
                <a:uFillTx/>
                <a:latin typeface="Roboto Condensed"/>
                <a:ea typeface="Roboto Condensed"/>
              </a:rPr>
              <a:t>xx%</a:t>
            </a:r>
            <a:endParaRPr lang="fr-FR" sz="2500" b="0" u="none" strike="noStrike">
              <a:solidFill>
                <a:schemeClr val="dk1"/>
              </a:solidFill>
              <a:effectLst/>
              <a:uFillTx/>
              <a:latin typeface="Arial"/>
            </a:endParaRPr>
          </a:p>
        </p:txBody>
      </p:sp>
      <p:sp>
        <p:nvSpPr>
          <p:cNvPr id="27" name="PlaceHolder 6"/>
          <p:cNvSpPr>
            <a:spLocks noGrp="1"/>
          </p:cNvSpPr>
          <p:nvPr>
            <p:ph type="title"/>
          </p:nvPr>
        </p:nvSpPr>
        <p:spPr>
          <a:xfrm>
            <a:off x="4261320" y="3761280"/>
            <a:ext cx="621000" cy="399600"/>
          </a:xfrm>
          <a:prstGeom prst="rect">
            <a:avLst/>
          </a:prstGeom>
          <a:noFill/>
          <a:ln w="0">
            <a:noFill/>
          </a:ln>
        </p:spPr>
        <p:txBody>
          <a:bodyPr lIns="91440" tIns="91440" rIns="91440" bIns="91440" anchor="ctr">
            <a:noAutofit/>
          </a:bodyPr>
          <a:lstStyle/>
          <a:p>
            <a:pPr indent="0" algn="ctr">
              <a:lnSpc>
                <a:spcPct val="100000"/>
              </a:lnSpc>
              <a:buNone/>
            </a:pPr>
            <a:r>
              <a:rPr lang="fr-FR" sz="2500" b="0" i="1" u="none" strike="noStrike">
                <a:solidFill>
                  <a:schemeClr val="accent1"/>
                </a:solidFill>
                <a:effectLst/>
                <a:uFillTx/>
                <a:latin typeface="Roboto Condensed"/>
                <a:ea typeface="Roboto Condensed"/>
              </a:rPr>
              <a:t>xx%</a:t>
            </a:r>
            <a:endParaRPr lang="fr-FR" sz="2500" b="0" u="none" strike="noStrike">
              <a:solidFill>
                <a:schemeClr val="dk1"/>
              </a:solidFill>
              <a:effectLst/>
              <a:uFillTx/>
              <a:latin typeface="Arial"/>
            </a:endParaRPr>
          </a:p>
        </p:txBody>
      </p:sp>
      <p:sp>
        <p:nvSpPr>
          <p:cNvPr id="28" name="PlaceHolder 7"/>
          <p:cNvSpPr>
            <a:spLocks noGrp="1"/>
          </p:cNvSpPr>
          <p:nvPr>
            <p:ph type="title"/>
          </p:nvPr>
        </p:nvSpPr>
        <p:spPr>
          <a:xfrm>
            <a:off x="6822000" y="3761280"/>
            <a:ext cx="621000" cy="399600"/>
          </a:xfrm>
          <a:prstGeom prst="rect">
            <a:avLst/>
          </a:prstGeom>
          <a:noFill/>
          <a:ln w="0">
            <a:noFill/>
          </a:ln>
        </p:spPr>
        <p:txBody>
          <a:bodyPr lIns="91440" tIns="91440" rIns="91440" bIns="91440" anchor="ctr">
            <a:noAutofit/>
          </a:bodyPr>
          <a:lstStyle/>
          <a:p>
            <a:pPr indent="0" algn="ctr">
              <a:lnSpc>
                <a:spcPct val="100000"/>
              </a:lnSpc>
              <a:buNone/>
            </a:pPr>
            <a:r>
              <a:rPr lang="fr-FR" sz="2500" b="0" i="1" u="none" strike="noStrike">
                <a:solidFill>
                  <a:schemeClr val="accent1"/>
                </a:solidFill>
                <a:effectLst/>
                <a:uFillTx/>
                <a:latin typeface="Roboto Condensed"/>
                <a:ea typeface="Roboto Condensed"/>
              </a:rPr>
              <a:t>xx%</a:t>
            </a:r>
            <a:endParaRPr lang="fr-FR" sz="2500" b="0" u="none" strike="noStrike">
              <a:solidFill>
                <a:schemeClr val="dk1"/>
              </a:solidFill>
              <a:effectLst/>
              <a:uFillTx/>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228600" y="255240"/>
            <a:ext cx="2655360" cy="1946880"/>
          </a:xfrm>
          <a:prstGeom prst="rect">
            <a:avLst/>
          </a:prstGeom>
          <a:noFill/>
          <a:ln w="0">
            <a:noFill/>
          </a:ln>
        </p:spPr>
        <p:txBody>
          <a:bodyPr lIns="91440" tIns="91440" rIns="91440" bIns="91440" anchor="t">
            <a:noAutofit/>
          </a:bodyPr>
          <a:lstStyle/>
          <a:p>
            <a:pPr indent="0">
              <a:buNone/>
            </a:pPr>
            <a:r>
              <a:rPr lang="fr-FR" sz="5500" b="0" u="none" strike="noStrike">
                <a:solidFill>
                  <a:schemeClr val="dk1"/>
                </a:solidFill>
                <a:effectLst/>
                <a:uFillTx/>
                <a:latin typeface="Arial"/>
              </a:rPr>
              <a:t>Click to edit the title text format</a:t>
            </a:r>
          </a:p>
        </p:txBody>
      </p:sp>
      <p:sp>
        <p:nvSpPr>
          <p:cNvPr id="30" name="Google Shape;102;p18"/>
          <p:cNvSpPr/>
          <p:nvPr/>
        </p:nvSpPr>
        <p:spPr>
          <a:xfrm>
            <a:off x="6045840" y="498960"/>
            <a:ext cx="2819520" cy="5839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000" b="1" u="none" strike="noStrike">
                <a:solidFill>
                  <a:schemeClr val="dk2"/>
                </a:solidFill>
                <a:effectLst/>
                <a:uFillTx/>
                <a:latin typeface="Nunito"/>
                <a:ea typeface="Nunito"/>
              </a:rPr>
              <a:t>CREDITS:</a:t>
            </a:r>
            <a:r>
              <a:rPr lang="en" sz="1000" b="0" u="none" strike="noStrike">
                <a:solidFill>
                  <a:schemeClr val="dk2"/>
                </a:solidFill>
                <a:effectLst/>
                <a:uFillTx/>
                <a:latin typeface="Nunito"/>
                <a:ea typeface="Nunito"/>
              </a:rPr>
              <a:t> This presentation template was created by </a:t>
            </a:r>
            <a:r>
              <a:rPr lang="en" sz="1000" b="1" u="sng" strike="noStrike">
                <a:solidFill>
                  <a:schemeClr val="dk2"/>
                </a:solidFill>
                <a:effectLst/>
                <a:uFillTx/>
                <a:latin typeface="Nunito"/>
                <a:ea typeface="Nunito"/>
                <a:hlinkClick r:id="rId2"/>
              </a:rPr>
              <a:t>Slidesgo</a:t>
            </a:r>
            <a:r>
              <a:rPr lang="en" sz="1000" b="0" u="none" strike="noStrike">
                <a:solidFill>
                  <a:schemeClr val="dk2"/>
                </a:solidFill>
                <a:effectLst/>
                <a:uFillTx/>
                <a:latin typeface="Nunito"/>
                <a:ea typeface="Nunito"/>
              </a:rPr>
              <a:t>, and includes icons, infographics &amp; images by </a:t>
            </a:r>
            <a:r>
              <a:rPr lang="en" sz="1000" b="1" u="sng" strike="noStrike">
                <a:solidFill>
                  <a:schemeClr val="dk2"/>
                </a:solidFill>
                <a:effectLst/>
                <a:uFillTx/>
                <a:latin typeface="Nunito"/>
                <a:ea typeface="Nunito"/>
                <a:hlinkClick r:id="rId3"/>
              </a:rPr>
              <a:t>Freepik</a:t>
            </a:r>
            <a:r>
              <a:rPr lang="en" sz="1000" b="0" u="none" strike="noStrike">
                <a:solidFill>
                  <a:schemeClr val="dk2"/>
                </a:solidFill>
                <a:effectLst/>
                <a:uFillTx/>
                <a:latin typeface="Nunito"/>
                <a:ea typeface="Nunito"/>
              </a:rPr>
              <a:t> </a:t>
            </a:r>
            <a:endParaRPr lang="en-US" sz="1000" b="0" u="none" strike="noStrike">
              <a:solidFill>
                <a:srgbClr val="000000"/>
              </a:solidFill>
              <a:effectLst/>
              <a:uFillTx/>
              <a:latin typeface="OpenSymbo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cxnSp>
        <p:nvCxnSpPr>
          <p:cNvPr id="31" name="Google Shape;104;p19"/>
          <p:cNvCxnSpPr/>
          <p:nvPr/>
        </p:nvCxnSpPr>
        <p:spPr>
          <a:xfrm>
            <a:off x="-69840" y="224640"/>
            <a:ext cx="9284040" cy="360"/>
          </a:xfrm>
          <a:prstGeom prst="straightConnector1">
            <a:avLst/>
          </a:prstGeom>
          <a:ln w="9525">
            <a:solidFill>
              <a:srgbClr val="AAA9A6"/>
            </a:solidFill>
            <a:roun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cxnSp>
        <p:nvCxnSpPr>
          <p:cNvPr id="32" name="Google Shape;106;p20"/>
          <p:cNvCxnSpPr/>
          <p:nvPr/>
        </p:nvCxnSpPr>
        <p:spPr>
          <a:xfrm>
            <a:off x="260280" y="-104760"/>
            <a:ext cx="360" cy="5353200"/>
          </a:xfrm>
          <a:prstGeom prst="straightConnector1">
            <a:avLst/>
          </a:prstGeom>
          <a:ln w="9525">
            <a:solidFill>
              <a:srgbClr val="AAA9A6"/>
            </a:solidFill>
            <a:round/>
          </a:ln>
        </p:spPr>
      </p:cxnSp>
      <p:cxnSp>
        <p:nvCxnSpPr>
          <p:cNvPr id="33" name="Google Shape;107;p20"/>
          <p:cNvCxnSpPr/>
          <p:nvPr/>
        </p:nvCxnSpPr>
        <p:spPr>
          <a:xfrm>
            <a:off x="-24120" y="4914720"/>
            <a:ext cx="9284040" cy="360"/>
          </a:xfrm>
          <a:prstGeom prst="straightConnector1">
            <a:avLst/>
          </a:prstGeom>
          <a:ln w="9525">
            <a:solidFill>
              <a:srgbClr val="AAA9A6"/>
            </a:solidFill>
            <a:roun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2"/>
        </a:solidFill>
        <a:effectLst/>
      </p:bgPr>
    </p:bg>
    <p:spTree>
      <p:nvGrpSpPr>
        <p:cNvPr id="1" name=""/>
        <p:cNvGrpSpPr/>
        <p:nvPr/>
      </p:nvGrpSpPr>
      <p:grpSpPr>
        <a:xfrm>
          <a:off x="0" y="0"/>
          <a:ext cx="0" cy="0"/>
          <a:chOff x="0" y="0"/>
          <a:chExt cx="0" cy="0"/>
        </a:xfrm>
      </p:grpSpPr>
      <p:sp>
        <p:nvSpPr>
          <p:cNvPr id="34" name="PlaceHolder 1"/>
          <p:cNvSpPr>
            <a:spLocks noGrp="1"/>
          </p:cNvSpPr>
          <p:nvPr>
            <p:ph type="body"/>
          </p:nvPr>
        </p:nvSpPr>
        <p:spPr>
          <a:xfrm>
            <a:off x="3481200" y="1233720"/>
            <a:ext cx="3173040" cy="3681000"/>
          </a:xfrm>
          <a:prstGeom prst="rect">
            <a:avLst/>
          </a:prstGeom>
          <a:noFill/>
          <a:ln w="0">
            <a:noFill/>
          </a:ln>
        </p:spPr>
        <p:txBody>
          <a:bodyPr lIns="90000" tIns="45000" rIns="90000" bIns="4500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5" name="PlaceHolder 2"/>
          <p:cNvSpPr>
            <a:spLocks noGrp="1"/>
          </p:cNvSpPr>
          <p:nvPr>
            <p:ph type="title"/>
          </p:nvPr>
        </p:nvSpPr>
        <p:spPr>
          <a:xfrm>
            <a:off x="1242720" y="228600"/>
            <a:ext cx="3870000" cy="1728720"/>
          </a:xfrm>
          <a:prstGeom prst="rect">
            <a:avLst/>
          </a:prstGeom>
          <a:noFill/>
          <a:ln w="0">
            <a:noFill/>
          </a:ln>
        </p:spPr>
        <p:txBody>
          <a:bodyPr lIns="91440" tIns="91440" rIns="91440" bIns="91440" anchor="b">
            <a:noAutofit/>
          </a:bodyPr>
          <a:lstStyle/>
          <a:p>
            <a:pPr indent="0">
              <a:buNone/>
            </a:pPr>
            <a:r>
              <a:rPr lang="fr-FR" sz="4500" b="0" u="none" strike="noStrike">
                <a:solidFill>
                  <a:schemeClr val="dk1"/>
                </a:solidFill>
                <a:effectLst/>
                <a:uFillTx/>
                <a:latin typeface="Arial"/>
              </a:rPr>
              <a:t>Click to edit the title text format</a:t>
            </a:r>
          </a:p>
        </p:txBody>
      </p:sp>
      <p:sp>
        <p:nvSpPr>
          <p:cNvPr id="36" name="PlaceHolder 3"/>
          <p:cNvSpPr>
            <a:spLocks noGrp="1"/>
          </p:cNvSpPr>
          <p:nvPr>
            <p:ph type="title"/>
          </p:nvPr>
        </p:nvSpPr>
        <p:spPr>
          <a:xfrm>
            <a:off x="78480" y="228600"/>
            <a:ext cx="1163520" cy="1106280"/>
          </a:xfrm>
          <a:prstGeom prst="rect">
            <a:avLst/>
          </a:prstGeom>
          <a:noFill/>
          <a:ln w="0">
            <a:noFill/>
          </a:ln>
        </p:spPr>
        <p:txBody>
          <a:bodyPr lIns="91440" tIns="91440" rIns="91440" bIns="91440" anchor="b">
            <a:noAutofit/>
          </a:bodyPr>
          <a:lstStyle/>
          <a:p>
            <a:pPr indent="0" algn="ctr">
              <a:lnSpc>
                <a:spcPct val="100000"/>
              </a:lnSpc>
              <a:buNone/>
            </a:pPr>
            <a:r>
              <a:rPr lang="fr-FR" sz="5000" b="0" i="1" u="none" strike="noStrike">
                <a:solidFill>
                  <a:schemeClr val="accent1"/>
                </a:solidFill>
                <a:effectLst/>
                <a:uFillTx/>
                <a:latin typeface="Roboto Condensed"/>
                <a:ea typeface="Roboto Condensed"/>
              </a:rPr>
              <a:t>xx%</a:t>
            </a:r>
            <a:endParaRPr lang="fr-FR" sz="50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8" name="PlaceHolder 2"/>
          <p:cNvSpPr>
            <a:spLocks noGrp="1"/>
          </p:cNvSpPr>
          <p:nvPr>
            <p:ph type="body"/>
          </p:nvPr>
        </p:nvSpPr>
        <p:spPr>
          <a:xfrm>
            <a:off x="720000" y="1278000"/>
            <a:ext cx="7703640" cy="33303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1832400" y="4342320"/>
            <a:ext cx="584028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40" name="PlaceHolder 2"/>
          <p:cNvSpPr>
            <a:spLocks noGrp="1"/>
          </p:cNvSpPr>
          <p:nvPr>
            <p:ph type="body"/>
          </p:nvPr>
        </p:nvSpPr>
        <p:spPr>
          <a:xfrm>
            <a:off x="1464480" y="228600"/>
            <a:ext cx="6214320" cy="264024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221760" y="228600"/>
            <a:ext cx="869328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720000" y="836280"/>
            <a:ext cx="3519360" cy="229572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43" name="PlaceHolder 2"/>
          <p:cNvSpPr>
            <a:spLocks noGrp="1"/>
          </p:cNvSpPr>
          <p:nvPr>
            <p:ph type="body"/>
          </p:nvPr>
        </p:nvSpPr>
        <p:spPr>
          <a:xfrm>
            <a:off x="5273280" y="533880"/>
            <a:ext cx="2909520" cy="4075560"/>
          </a:xfrm>
          <a:prstGeom prst="rect">
            <a:avLst/>
          </a:prstGeom>
          <a:noFill/>
          <a:ln w="0">
            <a:noFill/>
          </a:ln>
        </p:spPr>
        <p:txBody>
          <a:bodyPr lIns="90000" tIns="45000" rIns="90000" bIns="45000" anchor="t">
            <a:normAutofit fontScale="5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1890000" y="1307160"/>
            <a:ext cx="536364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713160" y="539640"/>
            <a:ext cx="4335840" cy="1288800"/>
          </a:xfrm>
          <a:prstGeom prst="rect">
            <a:avLst/>
          </a:prstGeom>
          <a:noFill/>
          <a:ln w="0">
            <a:noFill/>
          </a:ln>
        </p:spPr>
        <p:txBody>
          <a:bodyPr lIns="91440" tIns="91440" rIns="91440" bIns="91440" anchor="t">
            <a:noAutofit/>
          </a:bodyPr>
          <a:lstStyle/>
          <a:p>
            <a:pPr indent="0">
              <a:buNone/>
            </a:pPr>
            <a:r>
              <a:rPr lang="fr-FR" sz="40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46"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7" name="PlaceHolder 2"/>
          <p:cNvSpPr>
            <a:spLocks noGrp="1"/>
          </p:cNvSpPr>
          <p:nvPr>
            <p:ph type="title"/>
          </p:nvPr>
        </p:nvSpPr>
        <p:spPr>
          <a:xfrm>
            <a:off x="228600" y="228600"/>
            <a:ext cx="3260160" cy="1052280"/>
          </a:xfrm>
          <a:prstGeom prst="rect">
            <a:avLst/>
          </a:prstGeom>
          <a:solidFill>
            <a:schemeClr val="lt1"/>
          </a:solidFill>
          <a:ln w="0">
            <a:noFill/>
          </a:ln>
        </p:spPr>
        <p:txBody>
          <a:bodyPr lIns="91440" tIns="91440" rIns="91440" bIns="91440" anchor="ctr">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48" name="Google Shape;113;p23"/>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50" name="Google Shape;116;p24"/>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1"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52"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114480" y="219240"/>
            <a:ext cx="3771720" cy="24858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4500" b="0" u="none" strike="noStrike" dirty="0">
                <a:solidFill>
                  <a:schemeClr val="dk1"/>
                </a:solidFill>
                <a:effectLst/>
                <a:uFillTx/>
                <a:latin typeface="Roboto Condensed"/>
                <a:ea typeface="Roboto Condensed"/>
              </a:rPr>
              <a:t>Stock</a:t>
            </a:r>
            <a:r>
              <a:rPr lang="en-US" sz="4500" b="0" i="1" u="none" strike="noStrike" dirty="0">
                <a:solidFill>
                  <a:schemeClr val="dk1"/>
                </a:solidFill>
                <a:effectLst/>
                <a:uFillTx/>
                <a:latin typeface="Roboto Condensed"/>
                <a:ea typeface="Roboto Condensed"/>
              </a:rPr>
              <a:t> Prediction</a:t>
            </a:r>
            <a:endParaRPr lang="fr-FR" sz="4500" b="0" u="none" strike="noStrike" dirty="0">
              <a:solidFill>
                <a:schemeClr val="dk1"/>
              </a:solidFill>
              <a:effectLst/>
              <a:uFillTx/>
              <a:latin typeface="Arial"/>
            </a:endParaRPr>
          </a:p>
        </p:txBody>
      </p:sp>
      <p:sp>
        <p:nvSpPr>
          <p:cNvPr id="54" name="Google Shape;124;p25" title="woman-teaching-classroom (3).jpg"/>
          <p:cNvSpPr/>
          <p:nvPr/>
        </p:nvSpPr>
        <p:spPr>
          <a:xfrm>
            <a:off x="4448520" y="419760"/>
            <a:ext cx="4162320" cy="4162320"/>
          </a:xfrm>
          <a:prstGeom prst="ellipse">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cxnSp>
        <p:nvCxnSpPr>
          <p:cNvPr id="55" name="Google Shape;125;p25"/>
          <p:cNvCxnSpPr/>
          <p:nvPr/>
        </p:nvCxnSpPr>
        <p:spPr>
          <a:xfrm>
            <a:off x="-24120" y="4914720"/>
            <a:ext cx="9284040" cy="360"/>
          </a:xfrm>
          <a:prstGeom prst="straightConnector1">
            <a:avLst/>
          </a:prstGeom>
          <a:ln w="9525">
            <a:solidFill>
              <a:srgbClr val="AAA9A6"/>
            </a:solidFill>
            <a:round/>
          </a:ln>
        </p:spPr>
      </p:cxnSp>
      <p:sp>
        <p:nvSpPr>
          <p:cNvPr id="57" name="PlaceHolder 2"/>
          <p:cNvSpPr>
            <a:spLocks noGrp="1"/>
          </p:cNvSpPr>
          <p:nvPr>
            <p:ph type="subTitle"/>
          </p:nvPr>
        </p:nvSpPr>
        <p:spPr>
          <a:xfrm>
            <a:off x="1552680" y="3876840"/>
            <a:ext cx="2018880" cy="856800"/>
          </a:xfrm>
          <a:prstGeom prst="rect">
            <a:avLst/>
          </a:prstGeom>
          <a:noFill/>
          <a:ln w="0">
            <a:noFill/>
          </a:ln>
        </p:spPr>
        <p:txBody>
          <a:bodyPr lIns="91440" tIns="91440" rIns="91440" bIns="91440" anchor="t">
            <a:normAutofit lnSpcReduction="10000"/>
          </a:bodyPr>
          <a:lstStyle/>
          <a:p>
            <a:pPr algn="r">
              <a:lnSpc>
                <a:spcPct val="100000"/>
              </a:lnSpc>
              <a:tabLst>
                <a:tab pos="0" algn="l"/>
              </a:tabLst>
            </a:pPr>
            <a:r>
              <a:rPr lang="en-US" sz="1600" b="0" u="none" strike="noStrike" dirty="0">
                <a:solidFill>
                  <a:schemeClr val="dk2"/>
                </a:solidFill>
                <a:effectLst/>
                <a:uFillTx/>
                <a:latin typeface="Nunito"/>
                <a:ea typeface="Nunito"/>
              </a:rPr>
              <a:t>Stock Price Prediction Using Machine Learning</a:t>
            </a:r>
            <a:endParaRPr lang="en-US" sz="1600" b="0" u="none" strike="noStrike" dirty="0">
              <a:solidFill>
                <a:srgbClr val="000000"/>
              </a:solidFill>
              <a:effectLst/>
              <a:uFillTx/>
              <a:latin typeface="OpenSymbol"/>
            </a:endParaRPr>
          </a:p>
        </p:txBody>
      </p:sp>
      <p:sp>
        <p:nvSpPr>
          <p:cNvPr id="2" name="TextBox 1">
            <a:extLst>
              <a:ext uri="{FF2B5EF4-FFF2-40B4-BE49-F238E27FC236}">
                <a16:creationId xmlns:a16="http://schemas.microsoft.com/office/drawing/2014/main" id="{23113236-5AE1-6BCF-4E8D-ADCFE5DD0E79}"/>
              </a:ext>
            </a:extLst>
          </p:cNvPr>
          <p:cNvSpPr txBox="1"/>
          <p:nvPr/>
        </p:nvSpPr>
        <p:spPr>
          <a:xfrm>
            <a:off x="378135" y="2285955"/>
            <a:ext cx="3355092" cy="1200329"/>
          </a:xfrm>
          <a:prstGeom prst="rect">
            <a:avLst/>
          </a:prstGeom>
          <a:noFill/>
        </p:spPr>
        <p:txBody>
          <a:bodyPr wrap="square" rtlCol="0">
            <a:spAutoFit/>
          </a:bodyPr>
          <a:lstStyle/>
          <a:p>
            <a:endParaRPr lang="en-IN" u="sng" dirty="0"/>
          </a:p>
          <a:p>
            <a:r>
              <a:rPr lang="en-IN" dirty="0" err="1"/>
              <a:t>M.Ajay</a:t>
            </a:r>
            <a:r>
              <a:rPr lang="en-IN" dirty="0"/>
              <a:t> kumar-2403A52378</a:t>
            </a:r>
          </a:p>
          <a:p>
            <a:r>
              <a:rPr lang="en-IN" dirty="0" err="1"/>
              <a:t>L.Manogna</a:t>
            </a:r>
            <a:r>
              <a:rPr lang="en-IN" dirty="0"/>
              <a:t> -2403A52388</a:t>
            </a:r>
          </a:p>
          <a:p>
            <a:r>
              <a:rPr lang="en-IN" dirty="0"/>
              <a:t>G.Sanjana-2403A52380</a:t>
            </a:r>
          </a:p>
        </p:txBody>
      </p:sp>
      <p:sp>
        <p:nvSpPr>
          <p:cNvPr id="4" name="TextBox 3">
            <a:extLst>
              <a:ext uri="{FF2B5EF4-FFF2-40B4-BE49-F238E27FC236}">
                <a16:creationId xmlns:a16="http://schemas.microsoft.com/office/drawing/2014/main" id="{1596379A-FA42-01F3-6A80-1C8E35C581F1}"/>
              </a:ext>
            </a:extLst>
          </p:cNvPr>
          <p:cNvSpPr txBox="1"/>
          <p:nvPr/>
        </p:nvSpPr>
        <p:spPr>
          <a:xfrm>
            <a:off x="0" y="2202418"/>
            <a:ext cx="4706066" cy="369332"/>
          </a:xfrm>
          <a:prstGeom prst="rect">
            <a:avLst/>
          </a:prstGeom>
          <a:noFill/>
        </p:spPr>
        <p:txBody>
          <a:bodyPr wrap="square">
            <a:spAutoFit/>
          </a:bodyPr>
          <a:lstStyle/>
          <a:p>
            <a:r>
              <a:rPr lang="en-IN" u="sng" dirty="0"/>
              <a:t>GROUP MEMBERS: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228600" y="4343400"/>
            <a:ext cx="621936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000" b="0" u="none" strike="noStrike">
                <a:solidFill>
                  <a:schemeClr val="dk1"/>
                </a:solidFill>
                <a:effectLst/>
                <a:uFillTx/>
                <a:latin typeface="Roboto Condensed"/>
                <a:ea typeface="Roboto Condensed"/>
              </a:rPr>
              <a:t>Introduction</a:t>
            </a:r>
            <a:endParaRPr lang="fr-FR" sz="3000" b="0" u="none" strike="noStrike">
              <a:solidFill>
                <a:schemeClr val="dk1"/>
              </a:solidFill>
              <a:effectLst/>
              <a:uFillTx/>
              <a:latin typeface="Arial"/>
            </a:endParaRPr>
          </a:p>
        </p:txBody>
      </p:sp>
      <p:sp>
        <p:nvSpPr>
          <p:cNvPr id="59" name="PlaceHolder 2"/>
          <p:cNvSpPr>
            <a:spLocks noGrp="1"/>
          </p:cNvSpPr>
          <p:nvPr>
            <p:ph type="subTitle"/>
          </p:nvPr>
        </p:nvSpPr>
        <p:spPr>
          <a:xfrm>
            <a:off x="3878213" y="1423525"/>
            <a:ext cx="4990680" cy="1459318"/>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100" b="0" u="none" strike="noStrike" dirty="0">
                <a:solidFill>
                  <a:schemeClr val="dk1"/>
                </a:solidFill>
                <a:effectLst/>
                <a:uFillTx/>
                <a:latin typeface="Nunito"/>
                <a:ea typeface="Nunito"/>
              </a:rPr>
              <a:t>This presentation explores how machine learning can be leveraged to predict stock prices. We will cover the basics of stock price prediction, key algorithms used, and methodologies for building effective predictive models. Understanding these concepts enables better decision-making in financial markets through data-driven insights and advanced analytical techniques.</a:t>
            </a:r>
            <a:endParaRPr lang="en-US" sz="1100" b="0" u="none" strike="noStrike" dirty="0">
              <a:solidFill>
                <a:srgbClr val="000000"/>
              </a:solidFill>
              <a:effectLst/>
              <a:uFillTx/>
              <a:latin typeface="OpenSymbol"/>
            </a:endParaRPr>
          </a:p>
        </p:txBody>
      </p:sp>
      <p:cxnSp>
        <p:nvCxnSpPr>
          <p:cNvPr id="60" name="Google Shape;258;p31"/>
          <p:cNvCxnSpPr/>
          <p:nvPr/>
        </p:nvCxnSpPr>
        <p:spPr>
          <a:xfrm>
            <a:off x="-80280" y="4214160"/>
            <a:ext cx="9253080" cy="360"/>
          </a:xfrm>
          <a:prstGeom prst="straightConnector1">
            <a:avLst/>
          </a:prstGeom>
          <a:ln w="9525">
            <a:solidFill>
              <a:srgbClr val="020603"/>
            </a:solidFill>
            <a:round/>
          </a:ln>
        </p:spPr>
      </p:cxnSp>
      <p:pic>
        <p:nvPicPr>
          <p:cNvPr id="2050" name="Picture 2" descr="Stock Market Prediction Using Machine ...">
            <a:extLst>
              <a:ext uri="{FF2B5EF4-FFF2-40B4-BE49-F238E27FC236}">
                <a16:creationId xmlns:a16="http://schemas.microsoft.com/office/drawing/2014/main" id="{D678F7A6-4270-CD78-5C65-3725D511A6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112" y="1046109"/>
            <a:ext cx="3685101" cy="27833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228600" y="200160"/>
            <a:ext cx="5600520" cy="101880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000" b="0" u="none" strike="noStrike" dirty="0">
                <a:solidFill>
                  <a:schemeClr val="dk1"/>
                </a:solidFill>
                <a:effectLst/>
                <a:uFillTx/>
                <a:latin typeface="Roboto Condensed"/>
                <a:ea typeface="Roboto Condensed"/>
              </a:rPr>
              <a:t>Machine Learning for Stock Price Prediction</a:t>
            </a:r>
            <a:endParaRPr lang="fr-FR" sz="3000" b="0" u="none" strike="noStrike" dirty="0">
              <a:solidFill>
                <a:schemeClr val="dk1"/>
              </a:solidFill>
              <a:effectLst/>
              <a:uFillTx/>
              <a:latin typeface="Arial"/>
            </a:endParaRPr>
          </a:p>
        </p:txBody>
      </p:sp>
      <p:cxnSp>
        <p:nvCxnSpPr>
          <p:cNvPr id="63" name="Google Shape;326;p37"/>
          <p:cNvCxnSpPr/>
          <p:nvPr/>
        </p:nvCxnSpPr>
        <p:spPr>
          <a:xfrm flipH="1">
            <a:off x="0" y="1366920"/>
            <a:ext cx="9174240" cy="360"/>
          </a:xfrm>
          <a:prstGeom prst="straightConnector1">
            <a:avLst/>
          </a:prstGeom>
          <a:ln w="9525">
            <a:solidFill>
              <a:srgbClr val="020603"/>
            </a:solidFill>
            <a:round/>
          </a:ln>
        </p:spPr>
      </p:cxnSp>
      <p:pic>
        <p:nvPicPr>
          <p:cNvPr id="64" name="Google Shape;327;p37"/>
          <p:cNvPicPr/>
          <p:nvPr/>
        </p:nvPicPr>
        <p:blipFill>
          <a:blip r:embed="rId2"/>
          <a:srcRect l="32990" r="32995"/>
          <a:stretch/>
        </p:blipFill>
        <p:spPr>
          <a:xfrm>
            <a:off x="6014880" y="-12960"/>
            <a:ext cx="3128760" cy="5155920"/>
          </a:xfrm>
          <a:prstGeom prst="rect">
            <a:avLst/>
          </a:prstGeom>
          <a:noFill/>
          <a:ln w="0">
            <a:noFill/>
          </a:ln>
        </p:spPr>
      </p:pic>
      <p:sp>
        <p:nvSpPr>
          <p:cNvPr id="2" name="TextBox 1">
            <a:extLst>
              <a:ext uri="{FF2B5EF4-FFF2-40B4-BE49-F238E27FC236}">
                <a16:creationId xmlns:a16="http://schemas.microsoft.com/office/drawing/2014/main" id="{BF1D2231-DA2E-6270-466A-22066A7909CF}"/>
              </a:ext>
            </a:extLst>
          </p:cNvPr>
          <p:cNvSpPr txBox="1"/>
          <p:nvPr/>
        </p:nvSpPr>
        <p:spPr>
          <a:xfrm>
            <a:off x="367367" y="2021895"/>
            <a:ext cx="5009030" cy="1754326"/>
          </a:xfrm>
          <a:prstGeom prst="rect">
            <a:avLst/>
          </a:prstGeom>
          <a:noFill/>
        </p:spPr>
        <p:txBody>
          <a:bodyPr wrap="square" rtlCol="0">
            <a:spAutoFit/>
          </a:bodyPr>
          <a:lstStyle/>
          <a:p>
            <a:r>
              <a:rPr lang="en-US" dirty="0"/>
              <a:t>Machine Learning (ML) is widely used in financial markets to analyze historical stock data and predict future price movements. The goal is to identify patterns, trends, and relationships that are not easily visible through traditional methods.</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228600" y="200160"/>
            <a:ext cx="5600520" cy="101880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000" b="0" u="none" strike="noStrike">
                <a:solidFill>
                  <a:schemeClr val="dk1"/>
                </a:solidFill>
                <a:effectLst/>
                <a:uFillTx/>
                <a:latin typeface="Roboto Condensed"/>
                <a:ea typeface="Roboto Condensed"/>
              </a:rPr>
              <a:t>Fundamentals of Stock Price Prediction</a:t>
            </a:r>
            <a:endParaRPr lang="fr-FR" sz="3000" b="0" u="none" strike="noStrike">
              <a:solidFill>
                <a:schemeClr val="dk1"/>
              </a:solidFill>
              <a:effectLst/>
              <a:uFillTx/>
              <a:latin typeface="Arial"/>
            </a:endParaRPr>
          </a:p>
        </p:txBody>
      </p:sp>
      <p:sp>
        <p:nvSpPr>
          <p:cNvPr id="66" name="PlaceHolder 2"/>
          <p:cNvSpPr>
            <a:spLocks noGrp="1"/>
          </p:cNvSpPr>
          <p:nvPr>
            <p:ph type="subTitle"/>
          </p:nvPr>
        </p:nvSpPr>
        <p:spPr>
          <a:xfrm>
            <a:off x="370481" y="2080266"/>
            <a:ext cx="5028840" cy="1929240"/>
          </a:xfrm>
          <a:prstGeom prst="rect">
            <a:avLst/>
          </a:prstGeom>
          <a:noFill/>
          <a:ln w="0">
            <a:noFill/>
          </a:ln>
        </p:spPr>
        <p:txBody>
          <a:bodyPr lIns="91440" tIns="91440" rIns="91440" bIns="91440" anchor="b">
            <a:normAutofit/>
          </a:bodyPr>
          <a:lstStyle/>
          <a:p>
            <a:pPr marL="457200" indent="-333360">
              <a:lnSpc>
                <a:spcPct val="150000"/>
              </a:lnSpc>
              <a:buNone/>
              <a:tabLst>
                <a:tab pos="0" algn="l"/>
              </a:tabLst>
            </a:pPr>
            <a:r>
              <a:rPr lang="en-US" sz="1200" b="0" u="none" strike="noStrike" dirty="0">
                <a:solidFill>
                  <a:schemeClr val="dk1"/>
                </a:solidFill>
                <a:effectLst/>
                <a:uFillTx/>
                <a:latin typeface="Nunito"/>
                <a:ea typeface="Nunito"/>
              </a:rPr>
              <a:t>Stock price prediction involves forecasting future market prices based on historical data and various influencing factors. Key components include analyzing trends, market sentiment, and economic indicators. Accurate prediction relies on data quality, feature selection, and understanding market volatility to capture complex patterns dynamically.</a:t>
            </a:r>
            <a:endParaRPr lang="en-US" sz="1200" b="0" u="none" strike="noStrike" dirty="0">
              <a:solidFill>
                <a:srgbClr val="000000"/>
              </a:solidFill>
              <a:effectLst/>
              <a:uFillTx/>
              <a:latin typeface="OpenSymbol"/>
            </a:endParaRPr>
          </a:p>
        </p:txBody>
      </p:sp>
      <p:cxnSp>
        <p:nvCxnSpPr>
          <p:cNvPr id="67" name="Google Shape;326;p37"/>
          <p:cNvCxnSpPr/>
          <p:nvPr/>
        </p:nvCxnSpPr>
        <p:spPr>
          <a:xfrm flipH="1">
            <a:off x="0" y="1366920"/>
            <a:ext cx="9174240" cy="360"/>
          </a:xfrm>
          <a:prstGeom prst="straightConnector1">
            <a:avLst/>
          </a:prstGeom>
          <a:ln w="9525">
            <a:solidFill>
              <a:srgbClr val="020603"/>
            </a:solidFill>
            <a:round/>
          </a:ln>
        </p:spPr>
      </p:cxnSp>
      <p:pic>
        <p:nvPicPr>
          <p:cNvPr id="68" name="Google Shape;327;p37"/>
          <p:cNvPicPr/>
          <p:nvPr/>
        </p:nvPicPr>
        <p:blipFill>
          <a:blip r:embed="rId2"/>
          <a:srcRect l="32990" r="32995"/>
          <a:stretch/>
        </p:blipFill>
        <p:spPr>
          <a:xfrm>
            <a:off x="6014880" y="-12960"/>
            <a:ext cx="3128760" cy="51559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228600" y="4343400"/>
            <a:ext cx="621936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000" b="0" u="none" strike="noStrike">
                <a:solidFill>
                  <a:schemeClr val="dk1"/>
                </a:solidFill>
                <a:effectLst/>
                <a:uFillTx/>
                <a:latin typeface="Roboto Condensed"/>
                <a:ea typeface="Roboto Condensed"/>
              </a:rPr>
              <a:t>Key Machine Learning Algorithms</a:t>
            </a:r>
            <a:endParaRPr lang="fr-FR" sz="3000" b="0" u="none" strike="noStrike">
              <a:solidFill>
                <a:schemeClr val="dk1"/>
              </a:solidFill>
              <a:effectLst/>
              <a:uFillTx/>
              <a:latin typeface="Arial"/>
            </a:endParaRPr>
          </a:p>
        </p:txBody>
      </p:sp>
      <p:sp>
        <p:nvSpPr>
          <p:cNvPr id="70" name="PlaceHolder 2"/>
          <p:cNvSpPr>
            <a:spLocks noGrp="1"/>
          </p:cNvSpPr>
          <p:nvPr>
            <p:ph type="subTitle"/>
          </p:nvPr>
        </p:nvSpPr>
        <p:spPr>
          <a:xfrm>
            <a:off x="3747584" y="1231739"/>
            <a:ext cx="4990680" cy="1561726"/>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100" b="0" u="none" strike="noStrike" dirty="0">
                <a:solidFill>
                  <a:schemeClr val="dk1"/>
                </a:solidFill>
                <a:effectLst/>
                <a:uFillTx/>
                <a:latin typeface="Nunito"/>
                <a:ea typeface="Nunito"/>
              </a:rPr>
              <a:t>Popular algorithms for stock prediction include </a:t>
            </a:r>
            <a:r>
              <a:rPr lang="en-US" sz="1100" b="0" i="1" u="none" strike="noStrike" dirty="0">
                <a:solidFill>
                  <a:schemeClr val="dk1"/>
                </a:solidFill>
                <a:effectLst/>
                <a:uFillTx/>
                <a:latin typeface="Nunito"/>
                <a:ea typeface="Nunito"/>
              </a:rPr>
              <a:t>linear regression</a:t>
            </a:r>
            <a:r>
              <a:rPr lang="en-US" sz="1100" b="0" u="none" strike="noStrike" dirty="0">
                <a:solidFill>
                  <a:schemeClr val="dk1"/>
                </a:solidFill>
                <a:effectLst/>
                <a:uFillTx/>
                <a:latin typeface="Nunito"/>
                <a:ea typeface="Nunito"/>
              </a:rPr>
              <a:t>, </a:t>
            </a:r>
            <a:r>
              <a:rPr lang="en-US" sz="1100" b="0" i="1" u="none" strike="noStrike" dirty="0">
                <a:solidFill>
                  <a:schemeClr val="dk1"/>
                </a:solidFill>
                <a:effectLst/>
                <a:uFillTx/>
                <a:latin typeface="Nunito"/>
                <a:ea typeface="Nunito"/>
              </a:rPr>
              <a:t>random forests</a:t>
            </a:r>
            <a:r>
              <a:rPr lang="en-US" sz="1100" b="0" u="none" strike="noStrike" dirty="0">
                <a:solidFill>
                  <a:schemeClr val="dk1"/>
                </a:solidFill>
                <a:effectLst/>
                <a:uFillTx/>
                <a:latin typeface="Nunito"/>
                <a:ea typeface="Nunito"/>
              </a:rPr>
              <a:t>, and </a:t>
            </a:r>
            <a:r>
              <a:rPr lang="en-US" sz="1100" b="0" i="1" u="none" strike="noStrike" dirty="0">
                <a:solidFill>
                  <a:schemeClr val="dk1"/>
                </a:solidFill>
                <a:effectLst/>
                <a:uFillTx/>
                <a:latin typeface="Nunito"/>
                <a:ea typeface="Nunito"/>
              </a:rPr>
              <a:t>recurrent neural networks (RNNs)</a:t>
            </a:r>
            <a:r>
              <a:rPr lang="en-US" sz="1100" b="0" u="none" strike="noStrike" dirty="0">
                <a:solidFill>
                  <a:schemeClr val="dk1"/>
                </a:solidFill>
                <a:effectLst/>
                <a:uFillTx/>
                <a:latin typeface="Nunito"/>
                <a:ea typeface="Nunito"/>
              </a:rPr>
              <a:t>. Each offers strengths in modeling different data patterns, from linear to complex temporal sequences. Selecting the right algorithm depends on the data characteristics and the specific prediction objectives.</a:t>
            </a:r>
            <a:endParaRPr lang="en-US" sz="1100" b="0" u="none" strike="noStrike" dirty="0">
              <a:solidFill>
                <a:srgbClr val="000000"/>
              </a:solidFill>
              <a:effectLst/>
              <a:uFillTx/>
              <a:latin typeface="OpenSymbol"/>
            </a:endParaRPr>
          </a:p>
        </p:txBody>
      </p:sp>
      <p:cxnSp>
        <p:nvCxnSpPr>
          <p:cNvPr id="71" name="Google Shape;258;p31"/>
          <p:cNvCxnSpPr/>
          <p:nvPr/>
        </p:nvCxnSpPr>
        <p:spPr>
          <a:xfrm>
            <a:off x="-80280" y="4214160"/>
            <a:ext cx="9253080" cy="360"/>
          </a:xfrm>
          <a:prstGeom prst="straightConnector1">
            <a:avLst/>
          </a:prstGeom>
          <a:ln w="9525">
            <a:solidFill>
              <a:srgbClr val="020603"/>
            </a:solidFill>
            <a:round/>
          </a:ln>
        </p:spPr>
      </p:cxnSp>
      <p:pic>
        <p:nvPicPr>
          <p:cNvPr id="3074" name="Picture 2" descr="Stock Prediction 📈 Analysis using ...">
            <a:extLst>
              <a:ext uri="{FF2B5EF4-FFF2-40B4-BE49-F238E27FC236}">
                <a16:creationId xmlns:a16="http://schemas.microsoft.com/office/drawing/2014/main" id="{1B53D600-ABA0-981D-DF5C-A649E4A4FB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736" y="1329489"/>
            <a:ext cx="2667000" cy="1714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228600" y="4343400"/>
            <a:ext cx="621936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000" b="0" u="none" strike="noStrike" dirty="0">
                <a:solidFill>
                  <a:schemeClr val="dk1"/>
                </a:solidFill>
                <a:effectLst/>
                <a:uFillTx/>
                <a:latin typeface="Roboto Condensed"/>
                <a:ea typeface="Roboto Condensed"/>
              </a:rPr>
              <a:t>Data Sources and Feature Engineering</a:t>
            </a:r>
            <a:endParaRPr lang="fr-FR" sz="3000" b="0" u="none" strike="noStrike" dirty="0">
              <a:solidFill>
                <a:schemeClr val="dk1"/>
              </a:solidFill>
              <a:effectLst/>
              <a:uFillTx/>
              <a:latin typeface="Arial"/>
            </a:endParaRPr>
          </a:p>
        </p:txBody>
      </p:sp>
      <p:sp>
        <p:nvSpPr>
          <p:cNvPr id="73" name="PlaceHolder 2"/>
          <p:cNvSpPr>
            <a:spLocks noGrp="1"/>
          </p:cNvSpPr>
          <p:nvPr>
            <p:ph type="subTitle"/>
          </p:nvPr>
        </p:nvSpPr>
        <p:spPr>
          <a:xfrm>
            <a:off x="3871337" y="1182891"/>
            <a:ext cx="4990680" cy="1727452"/>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100" b="0" u="none" strike="noStrike" dirty="0">
                <a:solidFill>
                  <a:schemeClr val="dk1"/>
                </a:solidFill>
                <a:effectLst/>
                <a:uFillTx/>
                <a:latin typeface="Nunito"/>
                <a:ea typeface="Nunito"/>
              </a:rPr>
              <a:t>Effective stock price prediction depends on robust data collection from sources such as historical prices, financial statements, and market news. Feature engineering transforms raw data into meaningful inputs, extracting metrics like moving averages and volatility indicators. This process enhances model accuracy by highlighting critical patterns and relationships within complex financial datasets.</a:t>
            </a:r>
            <a:endParaRPr lang="en-US" sz="1100" b="0" u="none" strike="noStrike" dirty="0">
              <a:solidFill>
                <a:srgbClr val="000000"/>
              </a:solidFill>
              <a:effectLst/>
              <a:uFillTx/>
              <a:latin typeface="OpenSymbol"/>
            </a:endParaRPr>
          </a:p>
        </p:txBody>
      </p:sp>
      <p:cxnSp>
        <p:nvCxnSpPr>
          <p:cNvPr id="74" name="Google Shape;258;p31"/>
          <p:cNvCxnSpPr/>
          <p:nvPr/>
        </p:nvCxnSpPr>
        <p:spPr>
          <a:xfrm>
            <a:off x="-80280" y="4214160"/>
            <a:ext cx="9253080" cy="360"/>
          </a:xfrm>
          <a:prstGeom prst="straightConnector1">
            <a:avLst/>
          </a:prstGeom>
          <a:ln w="9525">
            <a:solidFill>
              <a:srgbClr val="020603"/>
            </a:solidFill>
            <a:round/>
          </a:ln>
        </p:spPr>
      </p:cxnSp>
      <p:pic>
        <p:nvPicPr>
          <p:cNvPr id="4098" name="Picture 2" descr="Stock Price Prediction using Machine ...">
            <a:extLst>
              <a:ext uri="{FF2B5EF4-FFF2-40B4-BE49-F238E27FC236}">
                <a16:creationId xmlns:a16="http://schemas.microsoft.com/office/drawing/2014/main" id="{4E14EC62-40B9-A7B7-85F9-D357C1CD40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801" y="1344314"/>
            <a:ext cx="2762250" cy="16573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228600" y="200160"/>
            <a:ext cx="5600520" cy="101880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000" b="0" u="none" strike="noStrike" dirty="0">
                <a:solidFill>
                  <a:schemeClr val="dk1"/>
                </a:solidFill>
                <a:effectLst/>
                <a:uFillTx/>
                <a:latin typeface="Roboto Condensed"/>
                <a:ea typeface="Roboto Condensed"/>
              </a:rPr>
              <a:t>Building a Stock Price Prediction Assistant</a:t>
            </a:r>
            <a:endParaRPr lang="fr-FR" sz="3000" b="0" u="none" strike="noStrike" dirty="0">
              <a:solidFill>
                <a:schemeClr val="dk1"/>
              </a:solidFill>
              <a:effectLst/>
              <a:uFillTx/>
              <a:latin typeface="Arial"/>
            </a:endParaRPr>
          </a:p>
        </p:txBody>
      </p:sp>
      <p:cxnSp>
        <p:nvCxnSpPr>
          <p:cNvPr id="77" name="Google Shape;326;p37"/>
          <p:cNvCxnSpPr/>
          <p:nvPr/>
        </p:nvCxnSpPr>
        <p:spPr>
          <a:xfrm flipH="1">
            <a:off x="0" y="1366920"/>
            <a:ext cx="9174240" cy="360"/>
          </a:xfrm>
          <a:prstGeom prst="straightConnector1">
            <a:avLst/>
          </a:prstGeom>
          <a:ln w="9525">
            <a:solidFill>
              <a:srgbClr val="020603"/>
            </a:solidFill>
            <a:round/>
          </a:ln>
        </p:spPr>
      </p:cxnSp>
      <p:pic>
        <p:nvPicPr>
          <p:cNvPr id="78" name="Google Shape;327;p37"/>
          <p:cNvPicPr/>
          <p:nvPr/>
        </p:nvPicPr>
        <p:blipFill>
          <a:blip r:embed="rId2"/>
          <a:srcRect l="32990" r="32995"/>
          <a:stretch/>
        </p:blipFill>
        <p:spPr>
          <a:xfrm>
            <a:off x="6014880" y="-12960"/>
            <a:ext cx="3128760" cy="5155920"/>
          </a:xfrm>
          <a:prstGeom prst="rect">
            <a:avLst/>
          </a:prstGeom>
          <a:noFill/>
          <a:ln w="0">
            <a:noFill/>
          </a:ln>
        </p:spPr>
      </p:pic>
      <p:sp>
        <p:nvSpPr>
          <p:cNvPr id="3" name="TextBox 2">
            <a:extLst>
              <a:ext uri="{FF2B5EF4-FFF2-40B4-BE49-F238E27FC236}">
                <a16:creationId xmlns:a16="http://schemas.microsoft.com/office/drawing/2014/main" id="{AC180D87-DE2D-7780-D314-70F770B9E38B}"/>
              </a:ext>
            </a:extLst>
          </p:cNvPr>
          <p:cNvSpPr txBox="1"/>
          <p:nvPr/>
        </p:nvSpPr>
        <p:spPr>
          <a:xfrm>
            <a:off x="446367" y="1785515"/>
            <a:ext cx="5164985" cy="2585323"/>
          </a:xfrm>
          <a:prstGeom prst="rect">
            <a:avLst/>
          </a:prstGeom>
          <a:noFill/>
        </p:spPr>
        <p:txBody>
          <a:bodyPr wrap="square">
            <a:spAutoFit/>
          </a:bodyPr>
          <a:lstStyle/>
          <a:p>
            <a:r>
              <a:rPr lang="en-US" dirty="0"/>
              <a:t>Building a stock price prediction assistant involves developing a system that can analyze past market data and forecast future stock movements. The process begins with collecting high-quality historical price data, technical indicators, and relevant market information. This data is then preprocessed, normalized, and converted into meaningful features for machine learning models. </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228600" y="4343400"/>
            <a:ext cx="621936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000" b="0" u="none" strike="noStrike" dirty="0">
                <a:solidFill>
                  <a:schemeClr val="dk1"/>
                </a:solidFill>
                <a:effectLst/>
                <a:uFillTx/>
                <a:latin typeface="Roboto Condensed"/>
                <a:ea typeface="Roboto Condensed"/>
              </a:rPr>
              <a:t>Model Training and Evaluation</a:t>
            </a:r>
            <a:endParaRPr lang="fr-FR" sz="3000" b="0" u="none" strike="noStrike" dirty="0">
              <a:solidFill>
                <a:schemeClr val="dk1"/>
              </a:solidFill>
              <a:effectLst/>
              <a:uFillTx/>
              <a:latin typeface="Arial"/>
            </a:endParaRPr>
          </a:p>
        </p:txBody>
      </p:sp>
      <p:sp>
        <p:nvSpPr>
          <p:cNvPr id="80" name="PlaceHolder 2"/>
          <p:cNvSpPr>
            <a:spLocks noGrp="1"/>
          </p:cNvSpPr>
          <p:nvPr>
            <p:ph type="subTitle"/>
          </p:nvPr>
        </p:nvSpPr>
        <p:spPr>
          <a:xfrm>
            <a:off x="3706333" y="1217628"/>
            <a:ext cx="4990680" cy="1603338"/>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100" b="0" u="none" strike="noStrike" dirty="0">
                <a:solidFill>
                  <a:schemeClr val="dk1"/>
                </a:solidFill>
                <a:effectLst/>
                <a:uFillTx/>
                <a:latin typeface="Nunito"/>
                <a:ea typeface="Nunito"/>
              </a:rPr>
              <a:t>Training involves feeding historical data into the model to learn patterns and relationships. Evaluation metrics like mean squared error (MSE) and accuracy assess prediction quality. Cross-validation and hyperparameter tuning optimize performance, ensuring the model generalizes well to unseen data, which is crucial for reliable stock price forecasting.</a:t>
            </a:r>
            <a:endParaRPr lang="en-US" sz="1100" b="0" u="none" strike="noStrike" dirty="0">
              <a:solidFill>
                <a:srgbClr val="000000"/>
              </a:solidFill>
              <a:effectLst/>
              <a:uFillTx/>
              <a:latin typeface="OpenSymbol"/>
            </a:endParaRPr>
          </a:p>
        </p:txBody>
      </p:sp>
      <p:cxnSp>
        <p:nvCxnSpPr>
          <p:cNvPr id="81" name="Google Shape;258;p31"/>
          <p:cNvCxnSpPr/>
          <p:nvPr/>
        </p:nvCxnSpPr>
        <p:spPr>
          <a:xfrm>
            <a:off x="-80280" y="4214160"/>
            <a:ext cx="9253080" cy="360"/>
          </a:xfrm>
          <a:prstGeom prst="straightConnector1">
            <a:avLst/>
          </a:prstGeom>
          <a:ln w="9525">
            <a:solidFill>
              <a:srgbClr val="020603"/>
            </a:solidFill>
            <a:round/>
          </a:ln>
        </p:spPr>
      </p:cxnSp>
      <p:pic>
        <p:nvPicPr>
          <p:cNvPr id="5128" name="Picture 8" descr="Stock Price Prediction using Machine ...">
            <a:extLst>
              <a:ext uri="{FF2B5EF4-FFF2-40B4-BE49-F238E27FC236}">
                <a16:creationId xmlns:a16="http://schemas.microsoft.com/office/drawing/2014/main" id="{D31CCC6A-1BE6-5942-1793-7B2CFC4795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134766"/>
            <a:ext cx="3054875" cy="21371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228600" y="200160"/>
            <a:ext cx="5600520" cy="10188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0" u="none" strike="noStrike">
                <a:solidFill>
                  <a:schemeClr val="dk1"/>
                </a:solidFill>
                <a:effectLst/>
                <a:uFillTx/>
                <a:latin typeface="Roboto Condensed"/>
                <a:ea typeface="Roboto Condensed"/>
              </a:rPr>
              <a:t>Deployment and User Interaction</a:t>
            </a:r>
            <a:endParaRPr lang="fr-FR" sz="3000" b="0" u="none" strike="noStrike">
              <a:solidFill>
                <a:schemeClr val="dk1"/>
              </a:solidFill>
              <a:effectLst/>
              <a:uFillTx/>
              <a:latin typeface="Arial"/>
            </a:endParaRPr>
          </a:p>
        </p:txBody>
      </p:sp>
      <p:sp>
        <p:nvSpPr>
          <p:cNvPr id="83" name="PlaceHolder 2"/>
          <p:cNvSpPr>
            <a:spLocks noGrp="1"/>
          </p:cNvSpPr>
          <p:nvPr>
            <p:ph type="subTitle"/>
          </p:nvPr>
        </p:nvSpPr>
        <p:spPr>
          <a:xfrm>
            <a:off x="439232" y="1917401"/>
            <a:ext cx="5028840" cy="2104650"/>
          </a:xfrm>
          <a:prstGeom prst="rect">
            <a:avLst/>
          </a:prstGeom>
          <a:noFill/>
          <a:ln w="0">
            <a:noFill/>
          </a:ln>
        </p:spPr>
        <p:txBody>
          <a:bodyPr lIns="91440" tIns="91440" rIns="91440" bIns="91440" anchor="b">
            <a:normAutofit/>
          </a:bodyPr>
          <a:lstStyle/>
          <a:p>
            <a:pPr marL="457200" indent="-333360">
              <a:lnSpc>
                <a:spcPct val="150000"/>
              </a:lnSpc>
              <a:buNone/>
              <a:tabLst>
                <a:tab pos="0" algn="l"/>
              </a:tabLst>
            </a:pPr>
            <a:r>
              <a:rPr lang="en-US" sz="1200" b="0" u="none" strike="noStrike" dirty="0">
                <a:solidFill>
                  <a:schemeClr val="dk1"/>
                </a:solidFill>
                <a:effectLst/>
                <a:uFillTx/>
                <a:latin typeface="Nunito"/>
                <a:ea typeface="Nunito"/>
              </a:rPr>
              <a:t>Deploying the model as an assistant allows real-time stock price predictions accessible to users through intuitive interfaces. Integration with platforms enables seamless data updates and alerts. User interaction focuses on providing actionable insights, visual analytics, and customization options to support informed investment decisions.</a:t>
            </a:r>
            <a:endParaRPr lang="en-US" sz="1200" b="0" u="none" strike="noStrike" dirty="0">
              <a:solidFill>
                <a:srgbClr val="000000"/>
              </a:solidFill>
              <a:effectLst/>
              <a:uFillTx/>
              <a:latin typeface="OpenSymbol"/>
            </a:endParaRPr>
          </a:p>
        </p:txBody>
      </p:sp>
      <p:cxnSp>
        <p:nvCxnSpPr>
          <p:cNvPr id="84" name="Google Shape;326;p37"/>
          <p:cNvCxnSpPr/>
          <p:nvPr/>
        </p:nvCxnSpPr>
        <p:spPr>
          <a:xfrm flipH="1">
            <a:off x="0" y="1366920"/>
            <a:ext cx="9174240" cy="360"/>
          </a:xfrm>
          <a:prstGeom prst="straightConnector1">
            <a:avLst/>
          </a:prstGeom>
          <a:ln w="9525">
            <a:solidFill>
              <a:srgbClr val="020603"/>
            </a:solidFill>
            <a:round/>
          </a:ln>
        </p:spPr>
      </p:cxnSp>
      <p:pic>
        <p:nvPicPr>
          <p:cNvPr id="85" name="Google Shape;327;p37"/>
          <p:cNvPicPr/>
          <p:nvPr/>
        </p:nvPicPr>
        <p:blipFill>
          <a:blip r:embed="rId2"/>
          <a:srcRect l="32990" r="32995"/>
          <a:stretch/>
        </p:blipFill>
        <p:spPr>
          <a:xfrm>
            <a:off x="6014880" y="-12960"/>
            <a:ext cx="3128760" cy="51559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228600" y="4343400"/>
            <a:ext cx="621936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000" b="0" u="none" strike="noStrike" dirty="0">
                <a:solidFill>
                  <a:schemeClr val="dk1"/>
                </a:solidFill>
                <a:effectLst/>
                <a:uFillTx/>
                <a:latin typeface="Roboto Condensed"/>
                <a:ea typeface="Roboto Condensed"/>
              </a:rPr>
              <a:t>Challenges and Future Enhancements</a:t>
            </a:r>
            <a:endParaRPr lang="fr-FR" sz="3000" b="0" u="none" strike="noStrike" dirty="0">
              <a:solidFill>
                <a:schemeClr val="dk1"/>
              </a:solidFill>
              <a:effectLst/>
              <a:uFillTx/>
              <a:latin typeface="Arial"/>
            </a:endParaRPr>
          </a:p>
        </p:txBody>
      </p:sp>
      <p:sp>
        <p:nvSpPr>
          <p:cNvPr id="87" name="PlaceHolder 2"/>
          <p:cNvSpPr>
            <a:spLocks noGrp="1"/>
          </p:cNvSpPr>
          <p:nvPr>
            <p:ph type="subTitle"/>
          </p:nvPr>
        </p:nvSpPr>
        <p:spPr>
          <a:xfrm>
            <a:off x="228600" y="1232098"/>
            <a:ext cx="8475288" cy="1740122"/>
          </a:xfrm>
          <a:prstGeom prst="rect">
            <a:avLst/>
          </a:prstGeom>
          <a:noFill/>
          <a:ln w="0">
            <a:noFill/>
          </a:ln>
        </p:spPr>
        <p:txBody>
          <a:bodyPr lIns="91440" tIns="91440" rIns="91440" bIns="91440" anchor="b">
            <a:normAutofit fontScale="92500" lnSpcReduction="10000"/>
          </a:bodyPr>
          <a:lstStyle/>
          <a:p>
            <a:pPr>
              <a:lnSpc>
                <a:spcPct val="150000"/>
              </a:lnSpc>
              <a:tabLst>
                <a:tab pos="0" algn="l"/>
              </a:tabLst>
            </a:pPr>
            <a:r>
              <a:rPr lang="en-US" sz="1100" dirty="0"/>
              <a:t>Building a stock price prediction system comes with several challenges, mainly due to the highly volatile and unpredictable nature of financial markets. Sudden economic changes, unexpected news, and market sentiment can significantly affect prediction accuracy. Data quality issues, such as missing values, noise, and inconsistent formats, further complicate the modeling process. Overfitting is also a common concern, as models may perform well on historical data but fail in real-world scenarios. For future enhancements, integrating news sentiment analysis, social media trends, and real-time data streams can improve prediction reliability. More advanced deep learning models like Transformers, hybrid architectures, or reinforcement learning can be applied to capture complex market behavior. Additionally, deploying the system as an interactive assistant with visualization dashboards and continuous model retraining can make the solution more reliable, scalable, and user-friendly.</a:t>
            </a:r>
            <a:endParaRPr lang="en-US" sz="1100" b="0" u="none" strike="noStrike" dirty="0">
              <a:solidFill>
                <a:srgbClr val="000000"/>
              </a:solidFill>
              <a:effectLst/>
              <a:uFillTx/>
              <a:latin typeface="OpenSymbol"/>
            </a:endParaRPr>
          </a:p>
        </p:txBody>
      </p:sp>
      <p:cxnSp>
        <p:nvCxnSpPr>
          <p:cNvPr id="88" name="Google Shape;258;p31"/>
          <p:cNvCxnSpPr/>
          <p:nvPr/>
        </p:nvCxnSpPr>
        <p:spPr>
          <a:xfrm>
            <a:off x="-80280" y="4214160"/>
            <a:ext cx="9253080" cy="360"/>
          </a:xfrm>
          <a:prstGeom prst="straightConnector1">
            <a:avLst/>
          </a:prstGeom>
          <a:ln w="9525">
            <a:solidFill>
              <a:srgbClr val="020603"/>
            </a:solidFill>
            <a:roun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228600" y="4343400"/>
            <a:ext cx="621936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000" b="0" u="none" strike="noStrike">
                <a:solidFill>
                  <a:schemeClr val="dk1"/>
                </a:solidFill>
                <a:effectLst/>
                <a:uFillTx/>
                <a:latin typeface="Roboto Condensed"/>
                <a:ea typeface="Roboto Condensed"/>
              </a:rPr>
              <a:t>Conclusions</a:t>
            </a:r>
            <a:endParaRPr lang="fr-FR" sz="3000" b="0" u="none" strike="noStrike">
              <a:solidFill>
                <a:schemeClr val="dk1"/>
              </a:solidFill>
              <a:effectLst/>
              <a:uFillTx/>
              <a:latin typeface="Arial"/>
            </a:endParaRPr>
          </a:p>
        </p:txBody>
      </p:sp>
      <p:sp>
        <p:nvSpPr>
          <p:cNvPr id="90" name="PlaceHolder 2"/>
          <p:cNvSpPr>
            <a:spLocks noGrp="1"/>
          </p:cNvSpPr>
          <p:nvPr>
            <p:ph type="subTitle"/>
          </p:nvPr>
        </p:nvSpPr>
        <p:spPr>
          <a:xfrm>
            <a:off x="3952620" y="1018246"/>
            <a:ext cx="4990680" cy="1960848"/>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100" b="0" u="none" strike="noStrike" dirty="0">
                <a:solidFill>
                  <a:schemeClr val="dk1"/>
                </a:solidFill>
                <a:effectLst/>
                <a:uFillTx/>
                <a:latin typeface="Nunito"/>
                <a:ea typeface="Nunito"/>
              </a:rPr>
              <a:t>Machine learning offers powerful tools for stock price prediction by uncovering complex market patterns. Success depends on quality data, appropriate algorithms, and continuous model refinement. Deploying predictive assistants provides valuable decision-making support, with ongoing innovation necessary to address market challenges and enhance forecasting reliability.</a:t>
            </a:r>
            <a:endParaRPr lang="en-US" sz="1100" b="0" u="none" strike="noStrike" dirty="0">
              <a:solidFill>
                <a:srgbClr val="000000"/>
              </a:solidFill>
              <a:effectLst/>
              <a:uFillTx/>
              <a:latin typeface="OpenSymbol"/>
            </a:endParaRPr>
          </a:p>
        </p:txBody>
      </p:sp>
      <p:cxnSp>
        <p:nvCxnSpPr>
          <p:cNvPr id="91" name="Google Shape;258;p31"/>
          <p:cNvCxnSpPr/>
          <p:nvPr/>
        </p:nvCxnSpPr>
        <p:spPr>
          <a:xfrm>
            <a:off x="-80280" y="4214160"/>
            <a:ext cx="9253080" cy="360"/>
          </a:xfrm>
          <a:prstGeom prst="straightConnector1">
            <a:avLst/>
          </a:prstGeom>
          <a:ln w="9525">
            <a:solidFill>
              <a:srgbClr val="020603"/>
            </a:solidFill>
            <a:round/>
          </a:ln>
        </p:spPr>
      </p:cxnSp>
      <p:pic>
        <p:nvPicPr>
          <p:cNvPr id="6146" name="Picture 2" descr="Stock Market Prediction Using Machine ...">
            <a:extLst>
              <a:ext uri="{FF2B5EF4-FFF2-40B4-BE49-F238E27FC236}">
                <a16:creationId xmlns:a16="http://schemas.microsoft.com/office/drawing/2014/main" id="{0A1FEB04-BF1D-7D27-CCBE-76E24C8717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700" y="1425742"/>
            <a:ext cx="2667000" cy="1714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1638014" y="1540699"/>
            <a:ext cx="4680284" cy="1031051"/>
          </a:xfrm>
          <a:prstGeom prst="rect">
            <a:avLst/>
          </a:prstGeom>
          <a:noFill/>
          <a:ln w="0">
            <a:noFill/>
          </a:ln>
        </p:spPr>
        <p:txBody>
          <a:bodyPr wrap="square" lIns="91440" tIns="91440" rIns="91440" bIns="91440" anchor="t">
            <a:spAutoFit/>
          </a:bodyPr>
          <a:lstStyle/>
          <a:p>
            <a:pPr indent="0">
              <a:lnSpc>
                <a:spcPct val="100000"/>
              </a:lnSpc>
              <a:buNone/>
              <a:tabLst>
                <a:tab pos="0" algn="l"/>
              </a:tabLst>
            </a:pPr>
            <a:r>
              <a:rPr lang="en" sz="5500" b="0" u="none" strike="noStrike" dirty="0">
                <a:solidFill>
                  <a:schemeClr val="dk1"/>
                </a:solidFill>
                <a:effectLst/>
                <a:uFillTx/>
                <a:latin typeface="Roboto Condensed"/>
                <a:ea typeface="Roboto Condensed"/>
              </a:rPr>
              <a:t>THANK </a:t>
            </a:r>
            <a:r>
              <a:rPr lang="en" sz="5500" b="0" i="1" u="none" strike="noStrike" dirty="0">
                <a:solidFill>
                  <a:schemeClr val="dk1"/>
                </a:solidFill>
                <a:effectLst/>
                <a:uFillTx/>
                <a:latin typeface="Roboto Condensed"/>
                <a:ea typeface="Roboto Condensed"/>
              </a:rPr>
              <a:t>YOU</a:t>
            </a:r>
            <a:endParaRPr lang="fr-FR" sz="5500" b="0" u="none" strike="noStrike" dirty="0">
              <a:solidFill>
                <a:schemeClr val="dk1"/>
              </a:solidFill>
              <a:effectLst/>
              <a:uFillTx/>
              <a:latin typeface="Arial"/>
            </a:endParaRPr>
          </a:p>
        </p:txBody>
      </p:sp>
      <p:pic>
        <p:nvPicPr>
          <p:cNvPr id="1026" name="Picture 2" descr="White paper background Images - Free ...">
            <a:extLst>
              <a:ext uri="{FF2B5EF4-FFF2-40B4-BE49-F238E27FC236}">
                <a16:creationId xmlns:a16="http://schemas.microsoft.com/office/drawing/2014/main" id="{4FEF41D6-362A-5BBF-B0CC-36569D487A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87006"/>
            <a:ext cx="10605294" cy="643050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47,700+ Thank You Sign Stock Photos ...">
            <a:extLst>
              <a:ext uri="{FF2B5EF4-FFF2-40B4-BE49-F238E27FC236}">
                <a16:creationId xmlns:a16="http://schemas.microsoft.com/office/drawing/2014/main" id="{9EB9BC8B-8718-3E1C-05AB-2B84123A6C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9424" y="1471290"/>
            <a:ext cx="3601381" cy="18338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Teacher Onboarding for Schools by Slidesgo">
  <a:themeElements>
    <a:clrScheme name="Simple Light">
      <a:dk1>
        <a:srgbClr val="020603"/>
      </a:dk1>
      <a:lt1>
        <a:srgbClr val="F4F1EC"/>
      </a:lt1>
      <a:dk2>
        <a:srgbClr val="020603"/>
      </a:dk2>
      <a:lt2>
        <a:srgbClr val="B5C6BC"/>
      </a:lt2>
      <a:accent1>
        <a:srgbClr val="FC7D80"/>
      </a:accent1>
      <a:accent2>
        <a:srgbClr val="AAA9A6"/>
      </a:accent2>
      <a:accent3>
        <a:srgbClr val="FFFFFF"/>
      </a:accent3>
      <a:accent4>
        <a:srgbClr val="FFFFFF"/>
      </a:accent4>
      <a:accent5>
        <a:srgbClr val="FFFFFF"/>
      </a:accent5>
      <a:accent6>
        <a:srgbClr val="FFFFFF"/>
      </a:accent6>
      <a:hlink>
        <a:srgbClr val="02060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TotalTime>
  <Words>682</Words>
  <Application>Microsoft Office PowerPoint</Application>
  <PresentationFormat>On-screen Show (16:9)</PresentationFormat>
  <Paragraphs>28</Paragraphs>
  <Slides>12</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Arial</vt:lpstr>
      <vt:lpstr>Nunito</vt:lpstr>
      <vt:lpstr>OpenSymbol</vt:lpstr>
      <vt:lpstr>Roboto Condensed</vt:lpstr>
      <vt:lpstr>Symbol</vt:lpstr>
      <vt:lpstr>Wingdings</vt:lpstr>
      <vt:lpstr>Teacher Onboarding for Schools by Slidesgo</vt:lpstr>
      <vt:lpstr>Slidesgo Final Pages</vt:lpstr>
      <vt:lpstr>Stock Prediction</vt:lpstr>
      <vt:lpstr>Introduction</vt:lpstr>
      <vt:lpstr>Machine Learning for Stock Price Prediction</vt:lpstr>
      <vt:lpstr>Fundamentals of Stock Price Prediction</vt:lpstr>
      <vt:lpstr>Key Machine Learning Algorithms</vt:lpstr>
      <vt:lpstr>Data Sources and Feature Engineering</vt:lpstr>
      <vt:lpstr>Building a Stock Price Prediction Assistant</vt:lpstr>
      <vt:lpstr>Model Training and Evaluation</vt:lpstr>
      <vt:lpstr>Deployment and User Interaction</vt:lpstr>
      <vt:lpstr>Challenges and Future Enhancements</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dommati rohith</cp:lastModifiedBy>
  <cp:revision>1</cp:revision>
  <dcterms:modified xsi:type="dcterms:W3CDTF">2025-11-23T13:52:17Z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2025-11-23T13:06:50Z</dcterms:created>
  <dc:creator>Unknown Creator</dc:creator>
  <dc:description/>
  <dc:language>en-US</dc:language>
  <cp:lastModifiedBy>Unknown Creator</cp:lastModifiedBy>
  <dcterms:modified xsi:type="dcterms:W3CDTF">2025-11-23T13:06:50Z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